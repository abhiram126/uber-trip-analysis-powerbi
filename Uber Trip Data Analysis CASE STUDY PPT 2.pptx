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8" r:id="rId8"/>
    <p:sldId id="262" r:id="rId9"/>
    <p:sldId id="269" r:id="rId10"/>
    <p:sldId id="263" r:id="rId11"/>
    <p:sldId id="270" r:id="rId12"/>
    <p:sldId id="264" r:id="rId13"/>
    <p:sldId id="265" r:id="rId14"/>
    <p:sldId id="266" r:id="rId15"/>
    <p:sldId id="26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011" autoAdjust="0"/>
    <p:restoredTop sz="94660"/>
  </p:normalViewPr>
  <p:slideViewPr>
    <p:cSldViewPr snapToGrid="0">
      <p:cViewPr varScale="1">
        <p:scale>
          <a:sx n="106" d="100"/>
          <a:sy n="106" d="100"/>
        </p:scale>
        <p:origin x="8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5E6CF1-60B7-4FBD-A76B-B6869A974D25}" type="datetimeFigureOut">
              <a:rPr lang="en-IN" smtClean="0"/>
              <a:t>27-10-2025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577768-B6D9-46CA-A128-A4CF8065320D}" type="slidenum">
              <a:rPr lang="en-IN" smtClean="0"/>
              <a:t>‹#›</a:t>
            </a:fld>
            <a:endParaRPr lang="en-IN"/>
          </a:p>
        </p:txBody>
      </p:sp>
    </p:spTree>
    <p:extLst>
      <p:ext uri="{BB962C8B-B14F-4D97-AF65-F5344CB8AC3E}">
        <p14:creationId xmlns:p14="http://schemas.microsoft.com/office/powerpoint/2010/main" val="615517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577768-B6D9-46CA-A128-A4CF8065320D}" type="slidenum">
              <a:rPr lang="en-IN" smtClean="0"/>
              <a:t>1</a:t>
            </a:fld>
            <a:endParaRPr lang="en-IN"/>
          </a:p>
        </p:txBody>
      </p:sp>
    </p:spTree>
    <p:extLst>
      <p:ext uri="{BB962C8B-B14F-4D97-AF65-F5344CB8AC3E}">
        <p14:creationId xmlns:p14="http://schemas.microsoft.com/office/powerpoint/2010/main" val="22639501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5B71A-9666-4A37-C694-4C61ED516A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8351639-9188-F310-2ED7-A3B9705D57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C3FF43F-6EA2-37A5-870D-0AEE13DB5700}"/>
              </a:ext>
            </a:extLst>
          </p:cNvPr>
          <p:cNvSpPr>
            <a:spLocks noGrp="1"/>
          </p:cNvSpPr>
          <p:nvPr>
            <p:ph type="dt" sz="half" idx="10"/>
          </p:nvPr>
        </p:nvSpPr>
        <p:spPr/>
        <p:txBody>
          <a:bodyPr/>
          <a:lstStyle/>
          <a:p>
            <a:fld id="{071ED686-EACC-4839-AC6D-7D258072BADA}" type="datetimeFigureOut">
              <a:rPr lang="en-IN" smtClean="0"/>
              <a:t>27-10-2025</a:t>
            </a:fld>
            <a:endParaRPr lang="en-IN"/>
          </a:p>
        </p:txBody>
      </p:sp>
      <p:sp>
        <p:nvSpPr>
          <p:cNvPr id="5" name="Footer Placeholder 4">
            <a:extLst>
              <a:ext uri="{FF2B5EF4-FFF2-40B4-BE49-F238E27FC236}">
                <a16:creationId xmlns:a16="http://schemas.microsoft.com/office/drawing/2014/main" id="{7423EC9A-3678-0584-9F86-1D9A889D4AB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39D6727-DB9E-B178-E39C-17D7B21A2856}"/>
              </a:ext>
            </a:extLst>
          </p:cNvPr>
          <p:cNvSpPr>
            <a:spLocks noGrp="1"/>
          </p:cNvSpPr>
          <p:nvPr>
            <p:ph type="sldNum" sz="quarter" idx="12"/>
          </p:nvPr>
        </p:nvSpPr>
        <p:spPr/>
        <p:txBody>
          <a:bodyPr/>
          <a:lstStyle/>
          <a:p>
            <a:fld id="{1C949D20-179E-42F7-85D9-283BD8C76395}" type="slidenum">
              <a:rPr lang="en-IN" smtClean="0"/>
              <a:t>‹#›</a:t>
            </a:fld>
            <a:endParaRPr lang="en-IN"/>
          </a:p>
        </p:txBody>
      </p:sp>
    </p:spTree>
    <p:extLst>
      <p:ext uri="{BB962C8B-B14F-4D97-AF65-F5344CB8AC3E}">
        <p14:creationId xmlns:p14="http://schemas.microsoft.com/office/powerpoint/2010/main" val="40106809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9F4190-E531-9E37-56F8-0D5A3079E0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6897F9B-6013-B4EA-A3A2-3AAA96ECD35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711F51-8B1E-EBF1-B901-A5616156895E}"/>
              </a:ext>
            </a:extLst>
          </p:cNvPr>
          <p:cNvSpPr>
            <a:spLocks noGrp="1"/>
          </p:cNvSpPr>
          <p:nvPr>
            <p:ph type="dt" sz="half" idx="10"/>
          </p:nvPr>
        </p:nvSpPr>
        <p:spPr/>
        <p:txBody>
          <a:bodyPr/>
          <a:lstStyle/>
          <a:p>
            <a:fld id="{071ED686-EACC-4839-AC6D-7D258072BADA}" type="datetimeFigureOut">
              <a:rPr lang="en-IN" smtClean="0"/>
              <a:t>27-10-2025</a:t>
            </a:fld>
            <a:endParaRPr lang="en-IN"/>
          </a:p>
        </p:txBody>
      </p:sp>
      <p:sp>
        <p:nvSpPr>
          <p:cNvPr id="5" name="Footer Placeholder 4">
            <a:extLst>
              <a:ext uri="{FF2B5EF4-FFF2-40B4-BE49-F238E27FC236}">
                <a16:creationId xmlns:a16="http://schemas.microsoft.com/office/drawing/2014/main" id="{A44C1E7D-7D1A-EF5A-6818-E1B5C5122A3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AC2FED0-111A-CC7A-018D-26D6C17E20E3}"/>
              </a:ext>
            </a:extLst>
          </p:cNvPr>
          <p:cNvSpPr>
            <a:spLocks noGrp="1"/>
          </p:cNvSpPr>
          <p:nvPr>
            <p:ph type="sldNum" sz="quarter" idx="12"/>
          </p:nvPr>
        </p:nvSpPr>
        <p:spPr/>
        <p:txBody>
          <a:bodyPr/>
          <a:lstStyle/>
          <a:p>
            <a:fld id="{1C949D20-179E-42F7-85D9-283BD8C76395}" type="slidenum">
              <a:rPr lang="en-IN" smtClean="0"/>
              <a:t>‹#›</a:t>
            </a:fld>
            <a:endParaRPr lang="en-IN"/>
          </a:p>
        </p:txBody>
      </p:sp>
    </p:spTree>
    <p:extLst>
      <p:ext uri="{BB962C8B-B14F-4D97-AF65-F5344CB8AC3E}">
        <p14:creationId xmlns:p14="http://schemas.microsoft.com/office/powerpoint/2010/main" val="114079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CA486A-F4EC-E81D-1D9B-87C45DDD2E7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0A82B31-2FEC-69FC-6BAF-4B054EAC5CC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5AFC133-D4D1-1891-0242-4F75BC35603B}"/>
              </a:ext>
            </a:extLst>
          </p:cNvPr>
          <p:cNvSpPr>
            <a:spLocks noGrp="1"/>
          </p:cNvSpPr>
          <p:nvPr>
            <p:ph type="dt" sz="half" idx="10"/>
          </p:nvPr>
        </p:nvSpPr>
        <p:spPr/>
        <p:txBody>
          <a:bodyPr/>
          <a:lstStyle/>
          <a:p>
            <a:fld id="{071ED686-EACC-4839-AC6D-7D258072BADA}" type="datetimeFigureOut">
              <a:rPr lang="en-IN" smtClean="0"/>
              <a:t>27-10-2025</a:t>
            </a:fld>
            <a:endParaRPr lang="en-IN"/>
          </a:p>
        </p:txBody>
      </p:sp>
      <p:sp>
        <p:nvSpPr>
          <p:cNvPr id="5" name="Footer Placeholder 4">
            <a:extLst>
              <a:ext uri="{FF2B5EF4-FFF2-40B4-BE49-F238E27FC236}">
                <a16:creationId xmlns:a16="http://schemas.microsoft.com/office/drawing/2014/main" id="{9B95F877-AE59-D4F1-1B0C-09A9EB96CA7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D84E1E8-033D-4FBF-7D37-B1B2337850B1}"/>
              </a:ext>
            </a:extLst>
          </p:cNvPr>
          <p:cNvSpPr>
            <a:spLocks noGrp="1"/>
          </p:cNvSpPr>
          <p:nvPr>
            <p:ph type="sldNum" sz="quarter" idx="12"/>
          </p:nvPr>
        </p:nvSpPr>
        <p:spPr/>
        <p:txBody>
          <a:bodyPr/>
          <a:lstStyle/>
          <a:p>
            <a:fld id="{1C949D20-179E-42F7-85D9-283BD8C76395}" type="slidenum">
              <a:rPr lang="en-IN" smtClean="0"/>
              <a:t>‹#›</a:t>
            </a:fld>
            <a:endParaRPr lang="en-IN"/>
          </a:p>
        </p:txBody>
      </p:sp>
    </p:spTree>
    <p:extLst>
      <p:ext uri="{BB962C8B-B14F-4D97-AF65-F5344CB8AC3E}">
        <p14:creationId xmlns:p14="http://schemas.microsoft.com/office/powerpoint/2010/main" val="1727304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8B566E-AE1E-E5A1-8B16-B3914A1EDB8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3528100-4AF6-A4B9-AAAC-E1754281FB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AC273D7-9EC6-AD1E-58A8-B8AB85C2222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D71E1B8-CC5D-C398-DC23-6968DB6F412E}"/>
              </a:ext>
            </a:extLst>
          </p:cNvPr>
          <p:cNvSpPr>
            <a:spLocks noGrp="1"/>
          </p:cNvSpPr>
          <p:nvPr>
            <p:ph type="dt" sz="half" idx="10"/>
          </p:nvPr>
        </p:nvSpPr>
        <p:spPr/>
        <p:txBody>
          <a:bodyPr/>
          <a:lstStyle/>
          <a:p>
            <a:fld id="{071ED686-EACC-4839-AC6D-7D258072BADA}" type="datetimeFigureOut">
              <a:rPr lang="en-IN" smtClean="0"/>
              <a:t>27-10-2025</a:t>
            </a:fld>
            <a:endParaRPr lang="en-IN"/>
          </a:p>
        </p:txBody>
      </p:sp>
      <p:sp>
        <p:nvSpPr>
          <p:cNvPr id="6" name="Footer Placeholder 5">
            <a:extLst>
              <a:ext uri="{FF2B5EF4-FFF2-40B4-BE49-F238E27FC236}">
                <a16:creationId xmlns:a16="http://schemas.microsoft.com/office/drawing/2014/main" id="{191DD7FA-1820-D88B-6575-270A63C9980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26587A2-AA10-E4F1-5D84-52974C470EFF}"/>
              </a:ext>
            </a:extLst>
          </p:cNvPr>
          <p:cNvSpPr>
            <a:spLocks noGrp="1"/>
          </p:cNvSpPr>
          <p:nvPr>
            <p:ph type="sldNum" sz="quarter" idx="12"/>
          </p:nvPr>
        </p:nvSpPr>
        <p:spPr/>
        <p:txBody>
          <a:bodyPr/>
          <a:lstStyle/>
          <a:p>
            <a:fld id="{1C949D20-179E-42F7-85D9-283BD8C76395}" type="slidenum">
              <a:rPr lang="en-IN" smtClean="0"/>
              <a:t>‹#›</a:t>
            </a:fld>
            <a:endParaRPr lang="en-IN"/>
          </a:p>
        </p:txBody>
      </p:sp>
    </p:spTree>
    <p:extLst>
      <p:ext uri="{BB962C8B-B14F-4D97-AF65-F5344CB8AC3E}">
        <p14:creationId xmlns:p14="http://schemas.microsoft.com/office/powerpoint/2010/main" val="29534389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950966-2C97-DF32-D10F-23F74BE1131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90A7132-66BB-5FA5-8C9D-A05892EAA9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0BF60FB-A803-07E5-1AAF-CA403F9030B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B24A9AAB-6A13-F217-4D27-6495596604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E9498FB-2EBB-A276-7776-22E869D51B6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4DD43F2-F047-6EF9-3A06-CDF3592DEB9A}"/>
              </a:ext>
            </a:extLst>
          </p:cNvPr>
          <p:cNvSpPr>
            <a:spLocks noGrp="1"/>
          </p:cNvSpPr>
          <p:nvPr>
            <p:ph type="dt" sz="half" idx="10"/>
          </p:nvPr>
        </p:nvSpPr>
        <p:spPr/>
        <p:txBody>
          <a:bodyPr/>
          <a:lstStyle/>
          <a:p>
            <a:fld id="{071ED686-EACC-4839-AC6D-7D258072BADA}" type="datetimeFigureOut">
              <a:rPr lang="en-IN" smtClean="0"/>
              <a:t>27-10-2025</a:t>
            </a:fld>
            <a:endParaRPr lang="en-IN"/>
          </a:p>
        </p:txBody>
      </p:sp>
      <p:sp>
        <p:nvSpPr>
          <p:cNvPr id="8" name="Footer Placeholder 7">
            <a:extLst>
              <a:ext uri="{FF2B5EF4-FFF2-40B4-BE49-F238E27FC236}">
                <a16:creationId xmlns:a16="http://schemas.microsoft.com/office/drawing/2014/main" id="{17053B29-6431-309F-98E6-5D943908FDB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95B0B58-0591-FF90-8387-0C7F4489059F}"/>
              </a:ext>
            </a:extLst>
          </p:cNvPr>
          <p:cNvSpPr>
            <a:spLocks noGrp="1"/>
          </p:cNvSpPr>
          <p:nvPr>
            <p:ph type="sldNum" sz="quarter" idx="12"/>
          </p:nvPr>
        </p:nvSpPr>
        <p:spPr/>
        <p:txBody>
          <a:bodyPr/>
          <a:lstStyle/>
          <a:p>
            <a:fld id="{1C949D20-179E-42F7-85D9-283BD8C76395}" type="slidenum">
              <a:rPr lang="en-IN" smtClean="0"/>
              <a:t>‹#›</a:t>
            </a:fld>
            <a:endParaRPr lang="en-IN"/>
          </a:p>
        </p:txBody>
      </p:sp>
    </p:spTree>
    <p:extLst>
      <p:ext uri="{BB962C8B-B14F-4D97-AF65-F5344CB8AC3E}">
        <p14:creationId xmlns:p14="http://schemas.microsoft.com/office/powerpoint/2010/main" val="33405644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A0F9D-4606-34AB-2F44-1CA9534F77B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D479DBC-CD74-E8FB-C556-2E8DBFD115D9}"/>
              </a:ext>
            </a:extLst>
          </p:cNvPr>
          <p:cNvSpPr>
            <a:spLocks noGrp="1"/>
          </p:cNvSpPr>
          <p:nvPr>
            <p:ph type="dt" sz="half" idx="10"/>
          </p:nvPr>
        </p:nvSpPr>
        <p:spPr/>
        <p:txBody>
          <a:bodyPr/>
          <a:lstStyle/>
          <a:p>
            <a:fld id="{071ED686-EACC-4839-AC6D-7D258072BADA}" type="datetimeFigureOut">
              <a:rPr lang="en-IN" smtClean="0"/>
              <a:t>27-10-2025</a:t>
            </a:fld>
            <a:endParaRPr lang="en-IN"/>
          </a:p>
        </p:txBody>
      </p:sp>
      <p:sp>
        <p:nvSpPr>
          <p:cNvPr id="4" name="Footer Placeholder 3">
            <a:extLst>
              <a:ext uri="{FF2B5EF4-FFF2-40B4-BE49-F238E27FC236}">
                <a16:creationId xmlns:a16="http://schemas.microsoft.com/office/drawing/2014/main" id="{94EA3A50-FA6B-39EA-79E2-48E9F7626C8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0173C69-5F39-5B85-62CE-FAF4BA4F8F1F}"/>
              </a:ext>
            </a:extLst>
          </p:cNvPr>
          <p:cNvSpPr>
            <a:spLocks noGrp="1"/>
          </p:cNvSpPr>
          <p:nvPr>
            <p:ph type="sldNum" sz="quarter" idx="12"/>
          </p:nvPr>
        </p:nvSpPr>
        <p:spPr/>
        <p:txBody>
          <a:bodyPr/>
          <a:lstStyle/>
          <a:p>
            <a:fld id="{1C949D20-179E-42F7-85D9-283BD8C76395}" type="slidenum">
              <a:rPr lang="en-IN" smtClean="0"/>
              <a:t>‹#›</a:t>
            </a:fld>
            <a:endParaRPr lang="en-IN"/>
          </a:p>
        </p:txBody>
      </p:sp>
    </p:spTree>
    <p:extLst>
      <p:ext uri="{BB962C8B-B14F-4D97-AF65-F5344CB8AC3E}">
        <p14:creationId xmlns:p14="http://schemas.microsoft.com/office/powerpoint/2010/main" val="10682547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C633B84-FFC1-A3D6-03E4-0028841C5703}"/>
              </a:ext>
            </a:extLst>
          </p:cNvPr>
          <p:cNvSpPr>
            <a:spLocks noGrp="1"/>
          </p:cNvSpPr>
          <p:nvPr>
            <p:ph type="dt" sz="half" idx="10"/>
          </p:nvPr>
        </p:nvSpPr>
        <p:spPr/>
        <p:txBody>
          <a:bodyPr/>
          <a:lstStyle/>
          <a:p>
            <a:fld id="{071ED686-EACC-4839-AC6D-7D258072BADA}" type="datetimeFigureOut">
              <a:rPr lang="en-IN" smtClean="0"/>
              <a:t>27-10-2025</a:t>
            </a:fld>
            <a:endParaRPr lang="en-IN"/>
          </a:p>
        </p:txBody>
      </p:sp>
      <p:sp>
        <p:nvSpPr>
          <p:cNvPr id="3" name="Footer Placeholder 2">
            <a:extLst>
              <a:ext uri="{FF2B5EF4-FFF2-40B4-BE49-F238E27FC236}">
                <a16:creationId xmlns:a16="http://schemas.microsoft.com/office/drawing/2014/main" id="{02B5B715-4EFE-C7E1-7647-F3BCB1D8639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9B00B619-9F2E-F7CA-31C3-F79240BD38DE}"/>
              </a:ext>
            </a:extLst>
          </p:cNvPr>
          <p:cNvSpPr>
            <a:spLocks noGrp="1"/>
          </p:cNvSpPr>
          <p:nvPr>
            <p:ph type="sldNum" sz="quarter" idx="12"/>
          </p:nvPr>
        </p:nvSpPr>
        <p:spPr/>
        <p:txBody>
          <a:bodyPr/>
          <a:lstStyle/>
          <a:p>
            <a:fld id="{1C949D20-179E-42F7-85D9-283BD8C76395}" type="slidenum">
              <a:rPr lang="en-IN" smtClean="0"/>
              <a:t>‹#›</a:t>
            </a:fld>
            <a:endParaRPr lang="en-IN"/>
          </a:p>
        </p:txBody>
      </p:sp>
    </p:spTree>
    <p:extLst>
      <p:ext uri="{BB962C8B-B14F-4D97-AF65-F5344CB8AC3E}">
        <p14:creationId xmlns:p14="http://schemas.microsoft.com/office/powerpoint/2010/main" val="37547888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7F2DC3-9CDB-61D3-5AF5-1855068C0B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D476E46-E17F-B409-FB6A-D584EDC2A7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A1ED647-813C-5119-A3F3-33463203A61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0C0F7D-E9BB-B7E0-79D3-D0559917EEC9}"/>
              </a:ext>
            </a:extLst>
          </p:cNvPr>
          <p:cNvSpPr>
            <a:spLocks noGrp="1"/>
          </p:cNvSpPr>
          <p:nvPr>
            <p:ph type="dt" sz="half" idx="10"/>
          </p:nvPr>
        </p:nvSpPr>
        <p:spPr/>
        <p:txBody>
          <a:bodyPr/>
          <a:lstStyle/>
          <a:p>
            <a:fld id="{071ED686-EACC-4839-AC6D-7D258072BADA}" type="datetimeFigureOut">
              <a:rPr lang="en-IN" smtClean="0"/>
              <a:t>27-10-2025</a:t>
            </a:fld>
            <a:endParaRPr lang="en-IN"/>
          </a:p>
        </p:txBody>
      </p:sp>
      <p:sp>
        <p:nvSpPr>
          <p:cNvPr id="6" name="Footer Placeholder 5">
            <a:extLst>
              <a:ext uri="{FF2B5EF4-FFF2-40B4-BE49-F238E27FC236}">
                <a16:creationId xmlns:a16="http://schemas.microsoft.com/office/drawing/2014/main" id="{622CADAA-4745-7F7F-A918-08F9535D897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78CE372-471C-772D-A1D5-B2169E6199D0}"/>
              </a:ext>
            </a:extLst>
          </p:cNvPr>
          <p:cNvSpPr>
            <a:spLocks noGrp="1"/>
          </p:cNvSpPr>
          <p:nvPr>
            <p:ph type="sldNum" sz="quarter" idx="12"/>
          </p:nvPr>
        </p:nvSpPr>
        <p:spPr/>
        <p:txBody>
          <a:bodyPr/>
          <a:lstStyle/>
          <a:p>
            <a:fld id="{1C949D20-179E-42F7-85D9-283BD8C76395}" type="slidenum">
              <a:rPr lang="en-IN" smtClean="0"/>
              <a:t>‹#›</a:t>
            </a:fld>
            <a:endParaRPr lang="en-IN"/>
          </a:p>
        </p:txBody>
      </p:sp>
    </p:spTree>
    <p:extLst>
      <p:ext uri="{BB962C8B-B14F-4D97-AF65-F5344CB8AC3E}">
        <p14:creationId xmlns:p14="http://schemas.microsoft.com/office/powerpoint/2010/main" val="2467635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90A8A-768D-E770-9554-66F5A06A4CA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6312738-CD0F-E3E7-CEF1-EF0CA7B1D8B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4414732-B311-B6E4-0816-FC96A990BA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E09513B-4EDB-A575-C42B-593D4E10185F}"/>
              </a:ext>
            </a:extLst>
          </p:cNvPr>
          <p:cNvSpPr>
            <a:spLocks noGrp="1"/>
          </p:cNvSpPr>
          <p:nvPr>
            <p:ph type="dt" sz="half" idx="10"/>
          </p:nvPr>
        </p:nvSpPr>
        <p:spPr/>
        <p:txBody>
          <a:bodyPr/>
          <a:lstStyle/>
          <a:p>
            <a:fld id="{071ED686-EACC-4839-AC6D-7D258072BADA}" type="datetimeFigureOut">
              <a:rPr lang="en-IN" smtClean="0"/>
              <a:t>27-10-2025</a:t>
            </a:fld>
            <a:endParaRPr lang="en-IN"/>
          </a:p>
        </p:txBody>
      </p:sp>
      <p:sp>
        <p:nvSpPr>
          <p:cNvPr id="6" name="Footer Placeholder 5">
            <a:extLst>
              <a:ext uri="{FF2B5EF4-FFF2-40B4-BE49-F238E27FC236}">
                <a16:creationId xmlns:a16="http://schemas.microsoft.com/office/drawing/2014/main" id="{C84A5A6A-9A97-D38F-3885-87EE38E0A5B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96F750D-3A88-4BCB-C1B4-D0EBBB3283C1}"/>
              </a:ext>
            </a:extLst>
          </p:cNvPr>
          <p:cNvSpPr>
            <a:spLocks noGrp="1"/>
          </p:cNvSpPr>
          <p:nvPr>
            <p:ph type="sldNum" sz="quarter" idx="12"/>
          </p:nvPr>
        </p:nvSpPr>
        <p:spPr/>
        <p:txBody>
          <a:bodyPr/>
          <a:lstStyle/>
          <a:p>
            <a:fld id="{1C949D20-179E-42F7-85D9-283BD8C76395}" type="slidenum">
              <a:rPr lang="en-IN" smtClean="0"/>
              <a:t>‹#›</a:t>
            </a:fld>
            <a:endParaRPr lang="en-IN"/>
          </a:p>
        </p:txBody>
      </p:sp>
    </p:spTree>
    <p:extLst>
      <p:ext uri="{BB962C8B-B14F-4D97-AF65-F5344CB8AC3E}">
        <p14:creationId xmlns:p14="http://schemas.microsoft.com/office/powerpoint/2010/main" val="9761876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3830A-2112-D692-E4A7-A00B9D1A13BD}"/>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95A982E-216C-BB5A-DF2E-2BB96BCF869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DD6F67-8F90-5798-7022-A574AB11CC54}"/>
              </a:ext>
            </a:extLst>
          </p:cNvPr>
          <p:cNvSpPr>
            <a:spLocks noGrp="1"/>
          </p:cNvSpPr>
          <p:nvPr>
            <p:ph type="dt" sz="half" idx="10"/>
          </p:nvPr>
        </p:nvSpPr>
        <p:spPr/>
        <p:txBody>
          <a:bodyPr/>
          <a:lstStyle/>
          <a:p>
            <a:fld id="{071ED686-EACC-4839-AC6D-7D258072BADA}" type="datetimeFigureOut">
              <a:rPr lang="en-IN" smtClean="0"/>
              <a:t>27-10-2025</a:t>
            </a:fld>
            <a:endParaRPr lang="en-IN"/>
          </a:p>
        </p:txBody>
      </p:sp>
      <p:sp>
        <p:nvSpPr>
          <p:cNvPr id="5" name="Footer Placeholder 4">
            <a:extLst>
              <a:ext uri="{FF2B5EF4-FFF2-40B4-BE49-F238E27FC236}">
                <a16:creationId xmlns:a16="http://schemas.microsoft.com/office/drawing/2014/main" id="{1DCCE525-6B4B-4629-C1D8-01D3B21213C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E2172BB-97B4-E3FE-64A6-768885B82E45}"/>
              </a:ext>
            </a:extLst>
          </p:cNvPr>
          <p:cNvSpPr>
            <a:spLocks noGrp="1"/>
          </p:cNvSpPr>
          <p:nvPr>
            <p:ph type="sldNum" sz="quarter" idx="12"/>
          </p:nvPr>
        </p:nvSpPr>
        <p:spPr/>
        <p:txBody>
          <a:bodyPr/>
          <a:lstStyle/>
          <a:p>
            <a:fld id="{1C949D20-179E-42F7-85D9-283BD8C76395}" type="slidenum">
              <a:rPr lang="en-IN" smtClean="0"/>
              <a:t>‹#›</a:t>
            </a:fld>
            <a:endParaRPr lang="en-IN"/>
          </a:p>
        </p:txBody>
      </p:sp>
    </p:spTree>
    <p:extLst>
      <p:ext uri="{BB962C8B-B14F-4D97-AF65-F5344CB8AC3E}">
        <p14:creationId xmlns:p14="http://schemas.microsoft.com/office/powerpoint/2010/main" val="2521247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45A521-57C8-6091-1487-1A3405C6F85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F43BCCA-1DCE-F943-28B5-8C6CE2E6E8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E5A1CFC-2302-4289-4B7A-C4079C705EE2}"/>
              </a:ext>
            </a:extLst>
          </p:cNvPr>
          <p:cNvSpPr>
            <a:spLocks noGrp="1"/>
          </p:cNvSpPr>
          <p:nvPr>
            <p:ph type="dt" sz="half" idx="10"/>
          </p:nvPr>
        </p:nvSpPr>
        <p:spPr/>
        <p:txBody>
          <a:bodyPr/>
          <a:lstStyle/>
          <a:p>
            <a:fld id="{071ED686-EACC-4839-AC6D-7D258072BADA}" type="datetimeFigureOut">
              <a:rPr lang="en-IN" smtClean="0"/>
              <a:t>27-10-2025</a:t>
            </a:fld>
            <a:endParaRPr lang="en-IN"/>
          </a:p>
        </p:txBody>
      </p:sp>
      <p:sp>
        <p:nvSpPr>
          <p:cNvPr id="5" name="Footer Placeholder 4">
            <a:extLst>
              <a:ext uri="{FF2B5EF4-FFF2-40B4-BE49-F238E27FC236}">
                <a16:creationId xmlns:a16="http://schemas.microsoft.com/office/drawing/2014/main" id="{83502D0D-C8B7-28A3-6F37-3A6FBCDF0BB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0A435B-AB24-E109-28F8-D79A1AF2DBAB}"/>
              </a:ext>
            </a:extLst>
          </p:cNvPr>
          <p:cNvSpPr>
            <a:spLocks noGrp="1"/>
          </p:cNvSpPr>
          <p:nvPr>
            <p:ph type="sldNum" sz="quarter" idx="12"/>
          </p:nvPr>
        </p:nvSpPr>
        <p:spPr/>
        <p:txBody>
          <a:bodyPr/>
          <a:lstStyle/>
          <a:p>
            <a:fld id="{1C949D20-179E-42F7-85D9-283BD8C76395}" type="slidenum">
              <a:rPr lang="en-IN" smtClean="0"/>
              <a:t>‹#›</a:t>
            </a:fld>
            <a:endParaRPr lang="en-IN"/>
          </a:p>
        </p:txBody>
      </p:sp>
    </p:spTree>
    <p:extLst>
      <p:ext uri="{BB962C8B-B14F-4D97-AF65-F5344CB8AC3E}">
        <p14:creationId xmlns:p14="http://schemas.microsoft.com/office/powerpoint/2010/main" val="36031031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22401C-F090-61EB-D065-1A1F2D45AA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B76CF27-AACA-E18C-7A61-77C18998E6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D58D375-1C8E-4B2F-BCEF-135E1403B6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71ED686-EACC-4839-AC6D-7D258072BADA}" type="datetimeFigureOut">
              <a:rPr lang="en-IN" smtClean="0"/>
              <a:t>27-10-2025</a:t>
            </a:fld>
            <a:endParaRPr lang="en-IN"/>
          </a:p>
        </p:txBody>
      </p:sp>
      <p:sp>
        <p:nvSpPr>
          <p:cNvPr id="5" name="Footer Placeholder 4">
            <a:extLst>
              <a:ext uri="{FF2B5EF4-FFF2-40B4-BE49-F238E27FC236}">
                <a16:creationId xmlns:a16="http://schemas.microsoft.com/office/drawing/2014/main" id="{93AF545F-929E-A685-1E08-FD62ADBDCE6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9813C949-23D5-1EAA-2DE8-34747DD2DDA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C949D20-179E-42F7-85D9-283BD8C76395}" type="slidenum">
              <a:rPr lang="en-IN" smtClean="0"/>
              <a:t>‹#›</a:t>
            </a:fld>
            <a:endParaRPr lang="en-IN"/>
          </a:p>
        </p:txBody>
      </p:sp>
    </p:spTree>
    <p:extLst>
      <p:ext uri="{BB962C8B-B14F-4D97-AF65-F5344CB8AC3E}">
        <p14:creationId xmlns:p14="http://schemas.microsoft.com/office/powerpoint/2010/main" val="15170007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AA4316-2A8F-2367-07D7-9F3277CEC7C3}"/>
              </a:ext>
            </a:extLst>
          </p:cNvPr>
          <p:cNvSpPr>
            <a:spLocks noGrp="1"/>
          </p:cNvSpPr>
          <p:nvPr>
            <p:ph type="ctrTitle"/>
          </p:nvPr>
        </p:nvSpPr>
        <p:spPr>
          <a:xfrm>
            <a:off x="1524000" y="1110332"/>
            <a:ext cx="9144000" cy="2387600"/>
          </a:xfrm>
        </p:spPr>
        <p:txBody>
          <a:bodyPr/>
          <a:lstStyle/>
          <a:p>
            <a:r>
              <a:rPr lang="en-IN" dirty="0"/>
              <a:t>Uber Trip Data Analysis </a:t>
            </a:r>
          </a:p>
        </p:txBody>
      </p:sp>
      <p:sp>
        <p:nvSpPr>
          <p:cNvPr id="3" name="Subtitle 2">
            <a:extLst>
              <a:ext uri="{FF2B5EF4-FFF2-40B4-BE49-F238E27FC236}">
                <a16:creationId xmlns:a16="http://schemas.microsoft.com/office/drawing/2014/main" id="{D61E8913-5132-6EFA-7467-3BF9ED9D6F99}"/>
              </a:ext>
            </a:extLst>
          </p:cNvPr>
          <p:cNvSpPr>
            <a:spLocks noGrp="1"/>
          </p:cNvSpPr>
          <p:nvPr>
            <p:ph type="subTitle" idx="1"/>
          </p:nvPr>
        </p:nvSpPr>
        <p:spPr>
          <a:xfrm>
            <a:off x="6960269" y="4757069"/>
            <a:ext cx="4946984" cy="1655762"/>
          </a:xfrm>
        </p:spPr>
        <p:txBody>
          <a:bodyPr/>
          <a:lstStyle/>
          <a:p>
            <a:pPr algn="l"/>
            <a:r>
              <a:rPr lang="en-IN" dirty="0" err="1"/>
              <a:t>N.Abhiram</a:t>
            </a:r>
            <a:r>
              <a:rPr lang="en-IN" dirty="0"/>
              <a:t> Chowdary</a:t>
            </a:r>
          </a:p>
          <a:p>
            <a:pPr algn="l"/>
            <a:r>
              <a:rPr lang="en-IN" dirty="0"/>
              <a:t>RA2211026050014 </a:t>
            </a:r>
          </a:p>
          <a:p>
            <a:pPr algn="l"/>
            <a:r>
              <a:rPr lang="en-IN" dirty="0"/>
              <a:t>CSE AIML </a:t>
            </a:r>
          </a:p>
        </p:txBody>
      </p:sp>
      <p:pic>
        <p:nvPicPr>
          <p:cNvPr id="5" name="Picture 4" descr="A black and white logo&#10;&#10;AI-generated content may be incorrect.">
            <a:extLst>
              <a:ext uri="{FF2B5EF4-FFF2-40B4-BE49-F238E27FC236}">
                <a16:creationId xmlns:a16="http://schemas.microsoft.com/office/drawing/2014/main" id="{937BF79D-A663-9633-9CB5-C34C42C620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7360" y="265113"/>
            <a:ext cx="1258303" cy="1258303"/>
          </a:xfrm>
          <a:prstGeom prst="rect">
            <a:avLst/>
          </a:prstGeom>
        </p:spPr>
      </p:pic>
    </p:spTree>
    <p:extLst>
      <p:ext uri="{BB962C8B-B14F-4D97-AF65-F5344CB8AC3E}">
        <p14:creationId xmlns:p14="http://schemas.microsoft.com/office/powerpoint/2010/main" val="21656595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B63494-9C26-320C-77EC-FBFF11248FFA}"/>
              </a:ext>
            </a:extLst>
          </p:cNvPr>
          <p:cNvSpPr>
            <a:spLocks noGrp="1"/>
          </p:cNvSpPr>
          <p:nvPr>
            <p:ph type="title"/>
          </p:nvPr>
        </p:nvSpPr>
        <p:spPr/>
        <p:txBody>
          <a:bodyPr/>
          <a:lstStyle/>
          <a:p>
            <a:r>
              <a:rPr lang="en-IN" dirty="0"/>
              <a:t>Introduction</a:t>
            </a:r>
          </a:p>
        </p:txBody>
      </p:sp>
      <p:sp>
        <p:nvSpPr>
          <p:cNvPr id="4" name="TextBox 3">
            <a:extLst>
              <a:ext uri="{FF2B5EF4-FFF2-40B4-BE49-F238E27FC236}">
                <a16:creationId xmlns:a16="http://schemas.microsoft.com/office/drawing/2014/main" id="{7F7AE518-EA02-DABF-2EE3-38E98F19F236}"/>
              </a:ext>
            </a:extLst>
          </p:cNvPr>
          <p:cNvSpPr txBox="1"/>
          <p:nvPr/>
        </p:nvSpPr>
        <p:spPr>
          <a:xfrm>
            <a:off x="764004" y="1887589"/>
            <a:ext cx="8602579" cy="3139321"/>
          </a:xfrm>
          <a:prstGeom prst="rect">
            <a:avLst/>
          </a:prstGeom>
          <a:noFill/>
        </p:spPr>
        <p:txBody>
          <a:bodyPr wrap="square">
            <a:spAutoFit/>
          </a:bodyPr>
          <a:lstStyle/>
          <a:p>
            <a:r>
              <a:rPr lang="en-IN" dirty="0"/>
              <a:t>Uber is a global leader in ride-hailing services connecting millions daily.</a:t>
            </a:r>
          </a:p>
          <a:p>
            <a:endParaRPr lang="en-IN" dirty="0"/>
          </a:p>
          <a:p>
            <a:r>
              <a:rPr lang="en-IN" dirty="0"/>
              <a:t>Each trip generates key data points — time, fare, distance, duration, payment type, and location.</a:t>
            </a:r>
          </a:p>
          <a:p>
            <a:endParaRPr lang="en-IN" dirty="0"/>
          </a:p>
          <a:p>
            <a:r>
              <a:rPr lang="en-IN" dirty="0" err="1"/>
              <a:t>Analyzing</a:t>
            </a:r>
            <a:r>
              <a:rPr lang="en-IN" dirty="0"/>
              <a:t> this data helps:</a:t>
            </a:r>
          </a:p>
          <a:p>
            <a:r>
              <a:rPr lang="en-IN" dirty="0"/>
              <a:t>                          Understand customer demand patterns.</a:t>
            </a:r>
          </a:p>
          <a:p>
            <a:r>
              <a:rPr lang="en-IN" dirty="0"/>
              <a:t>                          Optimize driver availability and pricing.</a:t>
            </a:r>
          </a:p>
          <a:p>
            <a:r>
              <a:rPr lang="en-IN" dirty="0"/>
              <a:t>                         Improve operational efficiency.</a:t>
            </a:r>
          </a:p>
          <a:p>
            <a:endParaRPr lang="en-IN" dirty="0"/>
          </a:p>
          <a:p>
            <a:r>
              <a:rPr lang="en-IN" dirty="0"/>
              <a:t>Power BI converts this raw trip data into actionable business intelligence.</a:t>
            </a:r>
          </a:p>
        </p:txBody>
      </p:sp>
      <p:pic>
        <p:nvPicPr>
          <p:cNvPr id="6" name="Picture 5" descr="A black and white logo&#10;&#10;AI-generated content may be incorrect.">
            <a:extLst>
              <a:ext uri="{FF2B5EF4-FFF2-40B4-BE49-F238E27FC236}">
                <a16:creationId xmlns:a16="http://schemas.microsoft.com/office/drawing/2014/main" id="{9248FD15-D3C1-19E0-2CF8-C5C4447273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23883" y="0"/>
            <a:ext cx="1490913" cy="1443789"/>
          </a:xfrm>
          <a:prstGeom prst="rect">
            <a:avLst/>
          </a:prstGeom>
        </p:spPr>
      </p:pic>
    </p:spTree>
    <p:extLst>
      <p:ext uri="{BB962C8B-B14F-4D97-AF65-F5344CB8AC3E}">
        <p14:creationId xmlns:p14="http://schemas.microsoft.com/office/powerpoint/2010/main" val="34146003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1892B4-AB33-FD40-E031-83BD64D73A16}"/>
              </a:ext>
            </a:extLst>
          </p:cNvPr>
          <p:cNvSpPr>
            <a:spLocks noGrp="1"/>
          </p:cNvSpPr>
          <p:nvPr>
            <p:ph type="title"/>
          </p:nvPr>
        </p:nvSpPr>
        <p:spPr/>
        <p:txBody>
          <a:bodyPr/>
          <a:lstStyle/>
          <a:p>
            <a:r>
              <a:rPr lang="en-IN" dirty="0"/>
              <a:t>Problem Statement</a:t>
            </a:r>
          </a:p>
        </p:txBody>
      </p:sp>
      <p:sp>
        <p:nvSpPr>
          <p:cNvPr id="4" name="TextBox 3">
            <a:extLst>
              <a:ext uri="{FF2B5EF4-FFF2-40B4-BE49-F238E27FC236}">
                <a16:creationId xmlns:a16="http://schemas.microsoft.com/office/drawing/2014/main" id="{5E2C0439-C9E7-6AE0-3366-207E95E358B9}"/>
              </a:ext>
            </a:extLst>
          </p:cNvPr>
          <p:cNvSpPr txBox="1"/>
          <p:nvPr/>
        </p:nvSpPr>
        <p:spPr>
          <a:xfrm>
            <a:off x="942974" y="1931802"/>
            <a:ext cx="8080709" cy="2308324"/>
          </a:xfrm>
          <a:prstGeom prst="rect">
            <a:avLst/>
          </a:prstGeom>
          <a:noFill/>
        </p:spPr>
        <p:txBody>
          <a:bodyPr wrap="square">
            <a:spAutoFit/>
          </a:bodyPr>
          <a:lstStyle/>
          <a:p>
            <a:pPr>
              <a:buNone/>
            </a:pPr>
            <a:r>
              <a:rPr lang="en-US" b="1" dirty="0"/>
              <a:t>Business Requirement:</a:t>
            </a:r>
            <a:br>
              <a:rPr lang="en-US" dirty="0"/>
            </a:br>
            <a:r>
              <a:rPr lang="en-US" dirty="0"/>
              <a:t>To analyze Uber trip data using Power BI to uncover insights into bookings, revenue, distance, time, and demand variations.</a:t>
            </a:r>
          </a:p>
          <a:p>
            <a:pPr>
              <a:buNone/>
            </a:pPr>
            <a:endParaRPr lang="en-US" dirty="0"/>
          </a:p>
          <a:p>
            <a:pPr>
              <a:buNone/>
            </a:pPr>
            <a:r>
              <a:rPr lang="en-US" b="1" dirty="0"/>
              <a:t>Key Needs:</a:t>
            </a:r>
            <a:endParaRPr lang="en-US" dirty="0"/>
          </a:p>
          <a:p>
            <a:pPr>
              <a:buFont typeface="Arial" panose="020B0604020202020204" pitchFamily="34" charset="0"/>
              <a:buChar char="•"/>
            </a:pPr>
            <a:r>
              <a:rPr lang="en-US" dirty="0"/>
              <a:t>Identify patterns in ride bookings and customer behavior.</a:t>
            </a:r>
          </a:p>
          <a:p>
            <a:pPr>
              <a:buFont typeface="Arial" panose="020B0604020202020204" pitchFamily="34" charset="0"/>
              <a:buChar char="•"/>
            </a:pPr>
            <a:r>
              <a:rPr lang="en-US" dirty="0"/>
              <a:t>Compare performance by time, day, and location.</a:t>
            </a:r>
          </a:p>
          <a:p>
            <a:pPr>
              <a:buFont typeface="Arial" panose="020B0604020202020204" pitchFamily="34" charset="0"/>
              <a:buChar char="•"/>
            </a:pPr>
            <a:r>
              <a:rPr lang="en-US" dirty="0"/>
              <a:t>Visualize trends to aid data-driven decisions for pricing and operations.</a:t>
            </a:r>
          </a:p>
        </p:txBody>
      </p:sp>
      <p:pic>
        <p:nvPicPr>
          <p:cNvPr id="5" name="Picture 4">
            <a:extLst>
              <a:ext uri="{FF2B5EF4-FFF2-40B4-BE49-F238E27FC236}">
                <a16:creationId xmlns:a16="http://schemas.microsoft.com/office/drawing/2014/main" id="{A48D1458-459E-B041-59B0-92C0AA3DF826}"/>
              </a:ext>
            </a:extLst>
          </p:cNvPr>
          <p:cNvPicPr>
            <a:picLocks noChangeAspect="1"/>
          </p:cNvPicPr>
          <p:nvPr/>
        </p:nvPicPr>
        <p:blipFill>
          <a:blip r:embed="rId2"/>
          <a:stretch>
            <a:fillRect/>
          </a:stretch>
        </p:blipFill>
        <p:spPr>
          <a:xfrm>
            <a:off x="10704447" y="0"/>
            <a:ext cx="1487553" cy="1444877"/>
          </a:xfrm>
          <a:prstGeom prst="rect">
            <a:avLst/>
          </a:prstGeom>
        </p:spPr>
      </p:pic>
    </p:spTree>
    <p:extLst>
      <p:ext uri="{BB962C8B-B14F-4D97-AF65-F5344CB8AC3E}">
        <p14:creationId xmlns:p14="http://schemas.microsoft.com/office/powerpoint/2010/main" val="18752103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47775E-6692-779B-6CCF-DB4D466B214E}"/>
              </a:ext>
            </a:extLst>
          </p:cNvPr>
          <p:cNvSpPr>
            <a:spLocks noGrp="1"/>
          </p:cNvSpPr>
          <p:nvPr>
            <p:ph type="title"/>
          </p:nvPr>
        </p:nvSpPr>
        <p:spPr/>
        <p:txBody>
          <a:bodyPr/>
          <a:lstStyle/>
          <a:p>
            <a:r>
              <a:rPr lang="en-IN" dirty="0"/>
              <a:t>Objectives</a:t>
            </a:r>
          </a:p>
        </p:txBody>
      </p:sp>
      <p:sp>
        <p:nvSpPr>
          <p:cNvPr id="3" name="Rectangle 1">
            <a:extLst>
              <a:ext uri="{FF2B5EF4-FFF2-40B4-BE49-F238E27FC236}">
                <a16:creationId xmlns:a16="http://schemas.microsoft.com/office/drawing/2014/main" id="{5BB678A1-E41C-E4D8-559D-73C0948D5EED}"/>
              </a:ext>
            </a:extLst>
          </p:cNvPr>
          <p:cNvSpPr>
            <a:spLocks noChangeArrowheads="1"/>
          </p:cNvSpPr>
          <p:nvPr/>
        </p:nvSpPr>
        <p:spPr bwMode="auto">
          <a:xfrm rot="10800000" flipV="1">
            <a:off x="750012" y="1937327"/>
            <a:ext cx="10353727"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Track </a:t>
            </a:r>
            <a:r>
              <a:rPr kumimoji="0" lang="en-US" altLang="en-US" sz="1800" b="1" i="0" u="none" strike="noStrike" cap="none" normalizeH="0" baseline="0" dirty="0">
                <a:ln>
                  <a:noFill/>
                </a:ln>
                <a:solidFill>
                  <a:schemeClr val="tx1"/>
                </a:solidFill>
                <a:effectLst/>
                <a:latin typeface="Arial" panose="020B0604020202020204" pitchFamily="34" charset="0"/>
              </a:rPr>
              <a:t>KPIs</a:t>
            </a:r>
            <a:r>
              <a:rPr kumimoji="0" lang="en-US" altLang="en-US" sz="1800" b="0" i="0" u="none" strike="noStrike" cap="none" normalizeH="0" baseline="0" dirty="0">
                <a:ln>
                  <a:noFill/>
                </a:ln>
                <a:solidFill>
                  <a:schemeClr val="tx1"/>
                </a:solidFill>
                <a:effectLst/>
                <a:latin typeface="Arial" panose="020B0604020202020204" pitchFamily="34" charset="0"/>
              </a:rPr>
              <a:t> such as Total Bookings, Total Revenue, Avg Booking Value, Distance, Duration.</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Analyze </a:t>
            </a:r>
            <a:r>
              <a:rPr kumimoji="0" lang="en-US" altLang="en-US" sz="1800" b="1" i="0" u="none" strike="noStrike" cap="none" normalizeH="0" baseline="0" dirty="0">
                <a:ln>
                  <a:noFill/>
                </a:ln>
                <a:solidFill>
                  <a:schemeClr val="tx1"/>
                </a:solidFill>
                <a:effectLst/>
                <a:latin typeface="Arial" panose="020B0604020202020204" pitchFamily="34" charset="0"/>
              </a:rPr>
              <a:t>trip efficiency</a:t>
            </a:r>
            <a:r>
              <a:rPr kumimoji="0" lang="en-US" altLang="en-US" sz="1800" b="0" i="0" u="none" strike="noStrike" cap="none" normalizeH="0" baseline="0" dirty="0">
                <a:ln>
                  <a:noFill/>
                </a:ln>
                <a:solidFill>
                  <a:schemeClr val="tx1"/>
                </a:solidFill>
                <a:effectLst/>
                <a:latin typeface="Arial" panose="020B0604020202020204" pitchFamily="34" charset="0"/>
              </a:rPr>
              <a:t> in terms of travel distance and time.</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Understand </a:t>
            </a:r>
            <a:r>
              <a:rPr kumimoji="0" lang="en-US" altLang="en-US" sz="1800" b="1" i="0" u="none" strike="noStrike" cap="none" normalizeH="0" baseline="0" dirty="0">
                <a:ln>
                  <a:noFill/>
                </a:ln>
                <a:solidFill>
                  <a:schemeClr val="tx1"/>
                </a:solidFill>
                <a:effectLst/>
                <a:latin typeface="Arial" panose="020B0604020202020204" pitchFamily="34" charset="0"/>
              </a:rPr>
              <a:t>demand variation</a:t>
            </a:r>
            <a:r>
              <a:rPr kumimoji="0" lang="en-US" altLang="en-US" sz="1800" b="0" i="0" u="none" strike="noStrike" cap="none" normalizeH="0" baseline="0" dirty="0">
                <a:ln>
                  <a:noFill/>
                </a:ln>
                <a:solidFill>
                  <a:schemeClr val="tx1"/>
                </a:solidFill>
                <a:effectLst/>
                <a:latin typeface="Arial" panose="020B0604020202020204" pitchFamily="34" charset="0"/>
              </a:rPr>
              <a:t> across time, day, and region.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Enable </a:t>
            </a:r>
            <a:r>
              <a:rPr kumimoji="0" lang="en-US" altLang="en-US" sz="1800" b="1" i="0" u="none" strike="noStrike" cap="none" normalizeH="0" baseline="0" dirty="0">
                <a:ln>
                  <a:noFill/>
                </a:ln>
                <a:solidFill>
                  <a:schemeClr val="tx1"/>
                </a:solidFill>
                <a:effectLst/>
                <a:latin typeface="Arial" panose="020B0604020202020204" pitchFamily="34" charset="0"/>
              </a:rPr>
              <a:t>interactive dashboards</a:t>
            </a:r>
            <a:r>
              <a:rPr kumimoji="0" lang="en-US" altLang="en-US" sz="1800" b="0" i="0" u="none" strike="noStrike" cap="none" normalizeH="0" baseline="0" dirty="0">
                <a:ln>
                  <a:noFill/>
                </a:ln>
                <a:solidFill>
                  <a:schemeClr val="tx1"/>
                </a:solidFill>
                <a:effectLst/>
                <a:latin typeface="Arial" panose="020B0604020202020204" pitchFamily="34" charset="0"/>
              </a:rPr>
              <a:t> for stakeholders.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Support </a:t>
            </a:r>
            <a:r>
              <a:rPr kumimoji="0" lang="en-US" altLang="en-US" sz="1800" b="1" i="0" u="none" strike="noStrike" cap="none" normalizeH="0" baseline="0" dirty="0">
                <a:ln>
                  <a:noFill/>
                </a:ln>
                <a:solidFill>
                  <a:schemeClr val="tx1"/>
                </a:solidFill>
                <a:effectLst/>
                <a:latin typeface="Arial" panose="020B0604020202020204" pitchFamily="34" charset="0"/>
              </a:rPr>
              <a:t>strategic planning</a:t>
            </a:r>
            <a:r>
              <a:rPr kumimoji="0" lang="en-US" altLang="en-US" sz="1800" b="0" i="0" u="none" strike="noStrike" cap="none" normalizeH="0" baseline="0" dirty="0">
                <a:ln>
                  <a:noFill/>
                </a:ln>
                <a:solidFill>
                  <a:schemeClr val="tx1"/>
                </a:solidFill>
                <a:effectLst/>
                <a:latin typeface="Arial" panose="020B0604020202020204" pitchFamily="34" charset="0"/>
              </a:rPr>
              <a:t> for fleet distribution, surge pricing, and city expansion.</a:t>
            </a:r>
          </a:p>
        </p:txBody>
      </p:sp>
      <p:pic>
        <p:nvPicPr>
          <p:cNvPr id="4" name="Picture 3">
            <a:extLst>
              <a:ext uri="{FF2B5EF4-FFF2-40B4-BE49-F238E27FC236}">
                <a16:creationId xmlns:a16="http://schemas.microsoft.com/office/drawing/2014/main" id="{3D1C7BA4-B33B-0B11-873F-7AF0F2E7DA54}"/>
              </a:ext>
            </a:extLst>
          </p:cNvPr>
          <p:cNvPicPr>
            <a:picLocks noChangeAspect="1"/>
          </p:cNvPicPr>
          <p:nvPr/>
        </p:nvPicPr>
        <p:blipFill>
          <a:blip r:embed="rId2"/>
          <a:stretch>
            <a:fillRect/>
          </a:stretch>
        </p:blipFill>
        <p:spPr>
          <a:xfrm>
            <a:off x="10704447" y="0"/>
            <a:ext cx="1487553" cy="1444877"/>
          </a:xfrm>
          <a:prstGeom prst="rect">
            <a:avLst/>
          </a:prstGeom>
        </p:spPr>
      </p:pic>
    </p:spTree>
    <p:extLst>
      <p:ext uri="{BB962C8B-B14F-4D97-AF65-F5344CB8AC3E}">
        <p14:creationId xmlns:p14="http://schemas.microsoft.com/office/powerpoint/2010/main" val="4883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4990F-CEE2-B484-3CD8-912F0AAF2467}"/>
              </a:ext>
            </a:extLst>
          </p:cNvPr>
          <p:cNvSpPr>
            <a:spLocks noGrp="1"/>
          </p:cNvSpPr>
          <p:nvPr>
            <p:ph type="title"/>
          </p:nvPr>
        </p:nvSpPr>
        <p:spPr>
          <a:xfrm>
            <a:off x="836195" y="152773"/>
            <a:ext cx="10517605" cy="1537916"/>
          </a:xfrm>
        </p:spPr>
        <p:txBody>
          <a:bodyPr/>
          <a:lstStyle/>
          <a:p>
            <a:r>
              <a:rPr lang="en-IN" dirty="0"/>
              <a:t>Methodology / Implementation Overview</a:t>
            </a:r>
          </a:p>
        </p:txBody>
      </p:sp>
      <p:sp>
        <p:nvSpPr>
          <p:cNvPr id="3" name="Rectangle 1">
            <a:extLst>
              <a:ext uri="{FF2B5EF4-FFF2-40B4-BE49-F238E27FC236}">
                <a16:creationId xmlns:a16="http://schemas.microsoft.com/office/drawing/2014/main" id="{49C9A30A-524F-F91B-6377-88BB32BC91D8}"/>
              </a:ext>
            </a:extLst>
          </p:cNvPr>
          <p:cNvSpPr>
            <a:spLocks noChangeArrowheads="1"/>
          </p:cNvSpPr>
          <p:nvPr/>
        </p:nvSpPr>
        <p:spPr bwMode="auto">
          <a:xfrm rot="10800000" flipV="1">
            <a:off x="192505" y="1349916"/>
            <a:ext cx="11999495" cy="5355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Collection: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1" u="none" strike="noStrike" cap="none" normalizeH="0" baseline="0" dirty="0">
                <a:ln>
                  <a:noFill/>
                </a:ln>
                <a:solidFill>
                  <a:schemeClr val="tx1"/>
                </a:solidFill>
                <a:effectLst/>
                <a:latin typeface="Arial" panose="020B0604020202020204" pitchFamily="34" charset="0"/>
              </a:rPr>
              <a:t>Uber Trip Details.xlsx</a:t>
            </a:r>
            <a:r>
              <a:rPr kumimoji="0" lang="en-US" altLang="en-US" sz="1800" b="0" i="0" u="none" strike="noStrike" cap="none" normalizeH="0" baseline="0" dirty="0">
                <a:ln>
                  <a:noFill/>
                </a:ln>
                <a:solidFill>
                  <a:schemeClr val="tx1"/>
                </a:solidFill>
                <a:effectLst/>
                <a:latin typeface="Arial" panose="020B0604020202020204" pitchFamily="34" charset="0"/>
              </a:rPr>
              <a:t> and </a:t>
            </a:r>
            <a:r>
              <a:rPr kumimoji="0" lang="en-US" altLang="en-US" sz="1800" b="0" i="1" u="none" strike="noStrike" cap="none" normalizeH="0" baseline="0" dirty="0">
                <a:ln>
                  <a:noFill/>
                </a:ln>
                <a:solidFill>
                  <a:schemeClr val="tx1"/>
                </a:solidFill>
                <a:effectLst/>
                <a:latin typeface="Arial" panose="020B0604020202020204" pitchFamily="34" charset="0"/>
              </a:rPr>
              <a:t>Location Table.xlsx</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Cleaning (Power Query):</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Removed duplicates and null entries.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Corrected date-time formatting.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Replaced missing payment types with mode values.</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Modeling:</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Created </a:t>
            </a:r>
            <a:r>
              <a:rPr kumimoji="0" lang="en-US" altLang="en-US" sz="1800" b="1" i="0" u="none" strike="noStrike" cap="none" normalizeH="0" baseline="0" dirty="0">
                <a:ln>
                  <a:noFill/>
                </a:ln>
                <a:solidFill>
                  <a:schemeClr val="tx1"/>
                </a:solidFill>
                <a:effectLst/>
                <a:latin typeface="Arial" panose="020B0604020202020204" pitchFamily="34" charset="0"/>
              </a:rPr>
              <a:t>star schema</a:t>
            </a:r>
            <a:r>
              <a:rPr kumimoji="0" lang="en-US" altLang="en-US" sz="1800" b="0" i="0" u="none" strike="noStrike" cap="none" normalizeH="0" baseline="0" dirty="0">
                <a:ln>
                  <a:noFill/>
                </a:ln>
                <a:solidFill>
                  <a:schemeClr val="tx1"/>
                </a:solidFill>
                <a:effectLst/>
                <a:latin typeface="Arial" panose="020B0604020202020204" pitchFamily="34" charset="0"/>
              </a:rPr>
              <a:t> linking Fact (Trip) and Dimension (Location, Vehicle, Date).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Calculated Columns and DAX Measures: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Total Bookings = COUNTROWS(</a:t>
            </a:r>
            <a:r>
              <a:rPr kumimoji="0" lang="en-US" altLang="en-US" sz="1800" b="0" i="0" u="none" strike="noStrike" cap="none" normalizeH="0" baseline="0" dirty="0" err="1">
                <a:ln>
                  <a:noFill/>
                </a:ln>
                <a:solidFill>
                  <a:schemeClr val="tx1"/>
                </a:solidFill>
                <a:effectLst/>
                <a:latin typeface="Arial" panose="020B0604020202020204" pitchFamily="34" charset="0"/>
              </a:rPr>
              <a:t>TripDetails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Total Revenue = SUM(</a:t>
            </a:r>
            <a:r>
              <a:rPr kumimoji="0" lang="en-US" altLang="en-US" sz="1800" b="0" i="0" u="none" strike="noStrike" cap="none" normalizeH="0" baseline="0" dirty="0" err="1">
                <a:ln>
                  <a:noFill/>
                </a:ln>
                <a:solidFill>
                  <a:schemeClr val="tx1"/>
                </a:solidFill>
                <a:effectLst/>
                <a:latin typeface="Arial" panose="020B0604020202020204" pitchFamily="34" charset="0"/>
              </a:rPr>
              <a:t>FareAmount</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Avg Trip Distance = AVERAGE(Distance)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Avg Trip Duration = AVERAGE(Duration)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Dashboard Design:</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Implemented </a:t>
            </a:r>
            <a:r>
              <a:rPr kumimoji="0" lang="en-US" altLang="en-US" sz="1800" b="1" i="0" u="none" strike="noStrike" cap="none" normalizeH="0" baseline="0" dirty="0">
                <a:ln>
                  <a:noFill/>
                </a:ln>
                <a:solidFill>
                  <a:schemeClr val="tx1"/>
                </a:solidFill>
                <a:effectLst/>
                <a:latin typeface="Arial" panose="020B0604020202020204" pitchFamily="34" charset="0"/>
              </a:rPr>
              <a:t>dynamic measure selector</a:t>
            </a:r>
            <a:r>
              <a:rPr kumimoji="0" lang="en-US" altLang="en-US" sz="1800" b="0" i="0" u="none" strike="noStrike" cap="none" normalizeH="0" baseline="0" dirty="0">
                <a:ln>
                  <a:noFill/>
                </a:ln>
                <a:solidFill>
                  <a:schemeClr val="tx1"/>
                </a:solidFill>
                <a:effectLst/>
                <a:latin typeface="Arial" panose="020B0604020202020204" pitchFamily="34" charset="0"/>
              </a:rPr>
              <a:t>, slicers, bookmarks, and conditional formatting.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4" name="Picture 3">
            <a:extLst>
              <a:ext uri="{FF2B5EF4-FFF2-40B4-BE49-F238E27FC236}">
                <a16:creationId xmlns:a16="http://schemas.microsoft.com/office/drawing/2014/main" id="{A3EF55FF-FD31-1B7C-C471-DB22CAC9662B}"/>
              </a:ext>
            </a:extLst>
          </p:cNvPr>
          <p:cNvPicPr>
            <a:picLocks noChangeAspect="1"/>
          </p:cNvPicPr>
          <p:nvPr/>
        </p:nvPicPr>
        <p:blipFill>
          <a:blip r:embed="rId2"/>
          <a:stretch>
            <a:fillRect/>
          </a:stretch>
        </p:blipFill>
        <p:spPr>
          <a:xfrm>
            <a:off x="10704447" y="0"/>
            <a:ext cx="1487553" cy="1444877"/>
          </a:xfrm>
          <a:prstGeom prst="rect">
            <a:avLst/>
          </a:prstGeom>
        </p:spPr>
      </p:pic>
    </p:spTree>
    <p:extLst>
      <p:ext uri="{BB962C8B-B14F-4D97-AF65-F5344CB8AC3E}">
        <p14:creationId xmlns:p14="http://schemas.microsoft.com/office/powerpoint/2010/main" val="29872651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767DD-9F55-35BF-4F17-5F489C51418C}"/>
              </a:ext>
            </a:extLst>
          </p:cNvPr>
          <p:cNvSpPr>
            <a:spLocks noGrp="1"/>
          </p:cNvSpPr>
          <p:nvPr>
            <p:ph type="title"/>
          </p:nvPr>
        </p:nvSpPr>
        <p:spPr/>
        <p:txBody>
          <a:bodyPr/>
          <a:lstStyle/>
          <a:p>
            <a:r>
              <a:rPr lang="en-IN" dirty="0"/>
              <a:t>Dashboard 1: Overview Analysis</a:t>
            </a:r>
          </a:p>
        </p:txBody>
      </p:sp>
      <p:sp>
        <p:nvSpPr>
          <p:cNvPr id="4" name="TextBox 3">
            <a:extLst>
              <a:ext uri="{FF2B5EF4-FFF2-40B4-BE49-F238E27FC236}">
                <a16:creationId xmlns:a16="http://schemas.microsoft.com/office/drawing/2014/main" id="{F0E31C08-8028-182E-76E0-8484D94D9617}"/>
              </a:ext>
            </a:extLst>
          </p:cNvPr>
          <p:cNvSpPr txBox="1"/>
          <p:nvPr/>
        </p:nvSpPr>
        <p:spPr>
          <a:xfrm>
            <a:off x="890336" y="2003038"/>
            <a:ext cx="8837195" cy="4247317"/>
          </a:xfrm>
          <a:prstGeom prst="rect">
            <a:avLst/>
          </a:prstGeom>
          <a:noFill/>
        </p:spPr>
        <p:txBody>
          <a:bodyPr wrap="square">
            <a:spAutoFit/>
          </a:bodyPr>
          <a:lstStyle/>
          <a:p>
            <a:pPr>
              <a:buNone/>
            </a:pPr>
            <a:r>
              <a:rPr lang="en-IN" b="1" dirty="0"/>
              <a:t>Purpose:</a:t>
            </a:r>
            <a:br>
              <a:rPr lang="en-IN" dirty="0"/>
            </a:br>
            <a:r>
              <a:rPr lang="en-IN" dirty="0"/>
              <a:t>To provide a holistic view of Uber’s operational and financial performance.</a:t>
            </a:r>
          </a:p>
          <a:p>
            <a:pPr>
              <a:buNone/>
            </a:pPr>
            <a:endParaRPr lang="en-IN" dirty="0"/>
          </a:p>
          <a:p>
            <a:pPr>
              <a:buNone/>
            </a:pPr>
            <a:r>
              <a:rPr lang="en-IN" b="1" dirty="0"/>
              <a:t>Key KPIs:</a:t>
            </a:r>
            <a:endParaRPr lang="en-IN" dirty="0"/>
          </a:p>
          <a:p>
            <a:pPr>
              <a:buFont typeface="Arial" panose="020B0604020202020204" pitchFamily="34" charset="0"/>
              <a:buChar char="•"/>
            </a:pPr>
            <a:r>
              <a:rPr lang="en-IN" dirty="0"/>
              <a:t>Total Bookings: </a:t>
            </a:r>
            <a:r>
              <a:rPr lang="en-IN" b="1" dirty="0"/>
              <a:t>103.7K</a:t>
            </a:r>
            <a:endParaRPr lang="en-IN" dirty="0"/>
          </a:p>
          <a:p>
            <a:pPr>
              <a:buFont typeface="Arial" panose="020B0604020202020204" pitchFamily="34" charset="0"/>
              <a:buChar char="•"/>
            </a:pPr>
            <a:r>
              <a:rPr lang="en-IN" dirty="0"/>
              <a:t>Total Revenue: </a:t>
            </a:r>
            <a:r>
              <a:rPr lang="en-IN" b="1" dirty="0"/>
              <a:t>$1.6M</a:t>
            </a:r>
            <a:endParaRPr lang="en-IN" dirty="0"/>
          </a:p>
          <a:p>
            <a:pPr>
              <a:buFont typeface="Arial" panose="020B0604020202020204" pitchFamily="34" charset="0"/>
              <a:buChar char="•"/>
            </a:pPr>
            <a:r>
              <a:rPr lang="en-IN" dirty="0" err="1"/>
              <a:t>Avg</a:t>
            </a:r>
            <a:r>
              <a:rPr lang="en-IN" dirty="0"/>
              <a:t> Booking Value: </a:t>
            </a:r>
            <a:r>
              <a:rPr lang="en-IN" b="1" dirty="0"/>
              <a:t>$15</a:t>
            </a:r>
            <a:endParaRPr lang="en-IN" dirty="0"/>
          </a:p>
          <a:p>
            <a:pPr>
              <a:buFont typeface="Arial" panose="020B0604020202020204" pitchFamily="34" charset="0"/>
              <a:buChar char="•"/>
            </a:pPr>
            <a:r>
              <a:rPr lang="en-IN" dirty="0"/>
              <a:t>Total Distance: </a:t>
            </a:r>
            <a:r>
              <a:rPr lang="en-IN" b="1" dirty="0"/>
              <a:t>349K miles</a:t>
            </a:r>
            <a:endParaRPr lang="en-IN" dirty="0"/>
          </a:p>
          <a:p>
            <a:pPr>
              <a:buFont typeface="Arial" panose="020B0604020202020204" pitchFamily="34" charset="0"/>
              <a:buChar char="•"/>
            </a:pPr>
            <a:r>
              <a:rPr lang="en-IN" dirty="0" err="1"/>
              <a:t>Avg</a:t>
            </a:r>
            <a:r>
              <a:rPr lang="en-IN" dirty="0"/>
              <a:t> Trip Duration: </a:t>
            </a:r>
            <a:r>
              <a:rPr lang="en-IN" b="1" dirty="0"/>
              <a:t>16 mins</a:t>
            </a:r>
            <a:endParaRPr lang="en-IN" dirty="0"/>
          </a:p>
          <a:p>
            <a:pPr>
              <a:buNone/>
            </a:pPr>
            <a:r>
              <a:rPr lang="en-IN" b="1" dirty="0"/>
              <a:t>Visuals:</a:t>
            </a:r>
            <a:r>
              <a:rPr lang="en-IN" dirty="0"/>
              <a:t> KPI Cards, Pie Charts (Payment Type, Trip Type), Matrix (Vehicle Type).</a:t>
            </a:r>
          </a:p>
          <a:p>
            <a:pPr>
              <a:buNone/>
            </a:pPr>
            <a:br>
              <a:rPr lang="en-IN" dirty="0"/>
            </a:br>
            <a:r>
              <a:rPr lang="en-IN" b="1" dirty="0"/>
              <a:t>Insight:</a:t>
            </a:r>
            <a:endParaRPr lang="en-IN" dirty="0"/>
          </a:p>
          <a:p>
            <a:pPr>
              <a:buFont typeface="Arial" panose="020B0604020202020204" pitchFamily="34" charset="0"/>
              <a:buChar char="•"/>
            </a:pPr>
            <a:r>
              <a:rPr lang="en-IN" dirty="0"/>
              <a:t>Uber Pay = 67% of payments (preferred digital method).</a:t>
            </a:r>
          </a:p>
          <a:p>
            <a:pPr>
              <a:buFont typeface="Arial" panose="020B0604020202020204" pitchFamily="34" charset="0"/>
              <a:buChar char="•"/>
            </a:pPr>
            <a:r>
              <a:rPr lang="en-IN" dirty="0"/>
              <a:t>Day Trips dominate (73%), indicating high daytime mobility.</a:t>
            </a:r>
          </a:p>
          <a:p>
            <a:pPr>
              <a:buFont typeface="Arial" panose="020B0604020202020204" pitchFamily="34" charset="0"/>
              <a:buChar char="•"/>
            </a:pPr>
            <a:r>
              <a:rPr lang="en-IN" dirty="0"/>
              <a:t>UberX generates max revenue; Hatchbacks dominate trip count.</a:t>
            </a:r>
          </a:p>
        </p:txBody>
      </p:sp>
      <p:pic>
        <p:nvPicPr>
          <p:cNvPr id="5" name="Picture 4">
            <a:extLst>
              <a:ext uri="{FF2B5EF4-FFF2-40B4-BE49-F238E27FC236}">
                <a16:creationId xmlns:a16="http://schemas.microsoft.com/office/drawing/2014/main" id="{99DC383B-BFE5-EE79-8222-05B9C7A53B7A}"/>
              </a:ext>
            </a:extLst>
          </p:cNvPr>
          <p:cNvPicPr>
            <a:picLocks noChangeAspect="1"/>
          </p:cNvPicPr>
          <p:nvPr/>
        </p:nvPicPr>
        <p:blipFill>
          <a:blip r:embed="rId2"/>
          <a:stretch>
            <a:fillRect/>
          </a:stretch>
        </p:blipFill>
        <p:spPr>
          <a:xfrm>
            <a:off x="10610023" y="52775"/>
            <a:ext cx="1487553" cy="1444877"/>
          </a:xfrm>
          <a:prstGeom prst="rect">
            <a:avLst/>
          </a:prstGeom>
        </p:spPr>
      </p:pic>
    </p:spTree>
    <p:extLst>
      <p:ext uri="{BB962C8B-B14F-4D97-AF65-F5344CB8AC3E}">
        <p14:creationId xmlns:p14="http://schemas.microsoft.com/office/powerpoint/2010/main" val="138652976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CE0FB14B-C60B-1777-210F-4FD409E864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548" y="0"/>
            <a:ext cx="12094903" cy="6858000"/>
          </a:xfrm>
          <a:prstGeom prst="rect">
            <a:avLst/>
          </a:prstGeom>
        </p:spPr>
      </p:pic>
    </p:spTree>
    <p:extLst>
      <p:ext uri="{BB962C8B-B14F-4D97-AF65-F5344CB8AC3E}">
        <p14:creationId xmlns:p14="http://schemas.microsoft.com/office/powerpoint/2010/main" val="8361509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E414A-988D-25BE-3A61-04E02D07CDDE}"/>
              </a:ext>
            </a:extLst>
          </p:cNvPr>
          <p:cNvSpPr>
            <a:spLocks noGrp="1"/>
          </p:cNvSpPr>
          <p:nvPr>
            <p:ph type="title"/>
          </p:nvPr>
        </p:nvSpPr>
        <p:spPr/>
        <p:txBody>
          <a:bodyPr/>
          <a:lstStyle/>
          <a:p>
            <a:r>
              <a:rPr lang="en-IN" dirty="0"/>
              <a:t>Dashboard 2: Time Analysis</a:t>
            </a:r>
          </a:p>
        </p:txBody>
      </p:sp>
      <p:sp>
        <p:nvSpPr>
          <p:cNvPr id="4" name="TextBox 3">
            <a:extLst>
              <a:ext uri="{FF2B5EF4-FFF2-40B4-BE49-F238E27FC236}">
                <a16:creationId xmlns:a16="http://schemas.microsoft.com/office/drawing/2014/main" id="{A8A4F8EB-EBB9-C44A-ED49-75954D37734F}"/>
              </a:ext>
            </a:extLst>
          </p:cNvPr>
          <p:cNvSpPr txBox="1"/>
          <p:nvPr/>
        </p:nvSpPr>
        <p:spPr>
          <a:xfrm>
            <a:off x="838199" y="1768831"/>
            <a:ext cx="7692189" cy="3416320"/>
          </a:xfrm>
          <a:prstGeom prst="rect">
            <a:avLst/>
          </a:prstGeom>
          <a:noFill/>
        </p:spPr>
        <p:txBody>
          <a:bodyPr wrap="square">
            <a:spAutoFit/>
          </a:bodyPr>
          <a:lstStyle/>
          <a:p>
            <a:pPr>
              <a:buNone/>
            </a:pPr>
            <a:r>
              <a:rPr lang="en-US" b="1" dirty="0"/>
              <a:t>Purpose:</a:t>
            </a:r>
            <a:r>
              <a:rPr lang="en-US" dirty="0"/>
              <a:t> Identify booking trends based on time and day.</a:t>
            </a:r>
          </a:p>
          <a:p>
            <a:pPr>
              <a:buNone/>
            </a:pPr>
            <a:endParaRPr lang="en-US" dirty="0"/>
          </a:p>
          <a:p>
            <a:pPr>
              <a:buNone/>
            </a:pPr>
            <a:r>
              <a:rPr lang="en-US" b="1" dirty="0"/>
              <a:t>Visuals:</a:t>
            </a:r>
            <a:endParaRPr lang="en-US" dirty="0"/>
          </a:p>
          <a:p>
            <a:pPr>
              <a:buFont typeface="Arial" panose="020B0604020202020204" pitchFamily="34" charset="0"/>
              <a:buChar char="•"/>
            </a:pPr>
            <a:r>
              <a:rPr lang="en-US" dirty="0"/>
              <a:t>Area Chart (10-min intervals)</a:t>
            </a:r>
          </a:p>
          <a:p>
            <a:pPr>
              <a:buFont typeface="Arial" panose="020B0604020202020204" pitchFamily="34" charset="0"/>
              <a:buChar char="•"/>
            </a:pPr>
            <a:r>
              <a:rPr lang="en-US" dirty="0"/>
              <a:t>Line Chart (Day of Week)</a:t>
            </a:r>
          </a:p>
          <a:p>
            <a:pPr>
              <a:buFont typeface="Arial" panose="020B0604020202020204" pitchFamily="34" charset="0"/>
              <a:buChar char="•"/>
            </a:pPr>
            <a:r>
              <a:rPr lang="en-US" dirty="0"/>
              <a:t>Heatmap (Hour vs Day)</a:t>
            </a:r>
          </a:p>
          <a:p>
            <a:pPr>
              <a:buFont typeface="Arial" panose="020B0604020202020204" pitchFamily="34" charset="0"/>
              <a:buChar char="•"/>
            </a:pPr>
            <a:endParaRPr lang="en-US" dirty="0"/>
          </a:p>
          <a:p>
            <a:pPr>
              <a:buNone/>
            </a:pPr>
            <a:r>
              <a:rPr lang="en-US" b="1" dirty="0"/>
              <a:t>Insights:</a:t>
            </a:r>
            <a:endParaRPr lang="en-US" dirty="0"/>
          </a:p>
          <a:p>
            <a:pPr>
              <a:buFont typeface="Arial" panose="020B0604020202020204" pitchFamily="34" charset="0"/>
              <a:buChar char="•"/>
            </a:pPr>
            <a:r>
              <a:rPr lang="en-US" dirty="0"/>
              <a:t>Peak demand: </a:t>
            </a:r>
            <a:r>
              <a:rPr lang="en-US" b="1" dirty="0"/>
              <a:t>6 AM – 9 PM</a:t>
            </a:r>
            <a:r>
              <a:rPr lang="en-US" dirty="0"/>
              <a:t>, especially during </a:t>
            </a:r>
            <a:r>
              <a:rPr lang="en-US" b="1" dirty="0"/>
              <a:t>commute hours</a:t>
            </a:r>
            <a:r>
              <a:rPr lang="en-US" dirty="0"/>
              <a:t>.</a:t>
            </a:r>
          </a:p>
          <a:p>
            <a:pPr>
              <a:buFont typeface="Arial" panose="020B0604020202020204" pitchFamily="34" charset="0"/>
              <a:buChar char="•"/>
            </a:pPr>
            <a:r>
              <a:rPr lang="en-US" dirty="0"/>
              <a:t>Weekends show higher average ride durations.</a:t>
            </a:r>
          </a:p>
          <a:p>
            <a:pPr>
              <a:buFont typeface="Arial" panose="020B0604020202020204" pitchFamily="34" charset="0"/>
              <a:buChar char="•"/>
            </a:pPr>
            <a:r>
              <a:rPr lang="en-US" dirty="0"/>
              <a:t>Early morning and late-night dips reflect driver unavailability gaps.</a:t>
            </a:r>
          </a:p>
          <a:p>
            <a:pPr>
              <a:buFont typeface="Arial" panose="020B0604020202020204" pitchFamily="34" charset="0"/>
              <a:buChar char="•"/>
            </a:pPr>
            <a:r>
              <a:rPr lang="en-US" dirty="0"/>
              <a:t>Enables </a:t>
            </a:r>
            <a:r>
              <a:rPr lang="en-US" b="1" dirty="0"/>
              <a:t>time-based surge pricing</a:t>
            </a:r>
            <a:r>
              <a:rPr lang="en-US" dirty="0"/>
              <a:t> and driver shift planning.</a:t>
            </a:r>
          </a:p>
        </p:txBody>
      </p:sp>
      <p:pic>
        <p:nvPicPr>
          <p:cNvPr id="5" name="Picture 4">
            <a:extLst>
              <a:ext uri="{FF2B5EF4-FFF2-40B4-BE49-F238E27FC236}">
                <a16:creationId xmlns:a16="http://schemas.microsoft.com/office/drawing/2014/main" id="{C29D9374-2057-D613-FF8D-9F07CE8EC2A5}"/>
              </a:ext>
            </a:extLst>
          </p:cNvPr>
          <p:cNvPicPr>
            <a:picLocks noChangeAspect="1"/>
          </p:cNvPicPr>
          <p:nvPr/>
        </p:nvPicPr>
        <p:blipFill>
          <a:blip r:embed="rId2"/>
          <a:stretch>
            <a:fillRect/>
          </a:stretch>
        </p:blipFill>
        <p:spPr>
          <a:xfrm>
            <a:off x="10704447" y="0"/>
            <a:ext cx="1487553" cy="1444877"/>
          </a:xfrm>
          <a:prstGeom prst="rect">
            <a:avLst/>
          </a:prstGeom>
        </p:spPr>
      </p:pic>
    </p:spTree>
    <p:extLst>
      <p:ext uri="{BB962C8B-B14F-4D97-AF65-F5344CB8AC3E}">
        <p14:creationId xmlns:p14="http://schemas.microsoft.com/office/powerpoint/2010/main" val="1302302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graph&#10;&#10;AI-generated content may be incorrect.">
            <a:extLst>
              <a:ext uri="{FF2B5EF4-FFF2-40B4-BE49-F238E27FC236}">
                <a16:creationId xmlns:a16="http://schemas.microsoft.com/office/drawing/2014/main" id="{FF94BC8A-0B30-23ED-2246-45B65CCAC5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6016" y="0"/>
            <a:ext cx="12059968" cy="6858000"/>
          </a:xfrm>
          <a:prstGeom prst="rect">
            <a:avLst/>
          </a:prstGeom>
        </p:spPr>
      </p:pic>
    </p:spTree>
    <p:extLst>
      <p:ext uri="{BB962C8B-B14F-4D97-AF65-F5344CB8AC3E}">
        <p14:creationId xmlns:p14="http://schemas.microsoft.com/office/powerpoint/2010/main" val="697565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C4ADA-C049-90C9-619D-57E7ED22D440}"/>
              </a:ext>
            </a:extLst>
          </p:cNvPr>
          <p:cNvSpPr>
            <a:spLocks noGrp="1"/>
          </p:cNvSpPr>
          <p:nvPr>
            <p:ph type="title"/>
          </p:nvPr>
        </p:nvSpPr>
        <p:spPr/>
        <p:txBody>
          <a:bodyPr/>
          <a:lstStyle/>
          <a:p>
            <a:r>
              <a:rPr lang="en-IN" dirty="0"/>
              <a:t>Dashboard 3: Location Analysis</a:t>
            </a:r>
          </a:p>
        </p:txBody>
      </p:sp>
      <p:sp>
        <p:nvSpPr>
          <p:cNvPr id="4" name="TextBox 3">
            <a:extLst>
              <a:ext uri="{FF2B5EF4-FFF2-40B4-BE49-F238E27FC236}">
                <a16:creationId xmlns:a16="http://schemas.microsoft.com/office/drawing/2014/main" id="{0C95A634-D6B6-1156-D760-0AC797419BEA}"/>
              </a:ext>
            </a:extLst>
          </p:cNvPr>
          <p:cNvSpPr txBox="1"/>
          <p:nvPr/>
        </p:nvSpPr>
        <p:spPr>
          <a:xfrm>
            <a:off x="838200" y="2111593"/>
            <a:ext cx="8307303" cy="3416320"/>
          </a:xfrm>
          <a:prstGeom prst="rect">
            <a:avLst/>
          </a:prstGeom>
          <a:noFill/>
        </p:spPr>
        <p:txBody>
          <a:bodyPr wrap="square">
            <a:spAutoFit/>
          </a:bodyPr>
          <a:lstStyle/>
          <a:p>
            <a:pPr>
              <a:buNone/>
            </a:pPr>
            <a:r>
              <a:rPr lang="en-US" b="1" dirty="0"/>
              <a:t>Purpose:</a:t>
            </a:r>
            <a:r>
              <a:rPr lang="en-US" dirty="0"/>
              <a:t> Identify top-performing areas and optimize driver distribution.</a:t>
            </a:r>
          </a:p>
          <a:p>
            <a:pPr>
              <a:buNone/>
            </a:pPr>
            <a:endParaRPr lang="en-US" dirty="0"/>
          </a:p>
          <a:p>
            <a:pPr>
              <a:buNone/>
            </a:pPr>
            <a:r>
              <a:rPr lang="en-US" b="1" dirty="0"/>
              <a:t>Visuals:</a:t>
            </a:r>
            <a:endParaRPr lang="en-US" dirty="0"/>
          </a:p>
          <a:p>
            <a:pPr>
              <a:buFont typeface="Arial" panose="020B0604020202020204" pitchFamily="34" charset="0"/>
              <a:buChar char="•"/>
            </a:pPr>
            <a:r>
              <a:rPr lang="en-US" dirty="0"/>
              <a:t>Map and Bar Charts for Pickup/Drop-off points.</a:t>
            </a:r>
          </a:p>
          <a:p>
            <a:pPr>
              <a:buFont typeface="Arial" panose="020B0604020202020204" pitchFamily="34" charset="0"/>
              <a:buChar char="•"/>
            </a:pPr>
            <a:r>
              <a:rPr lang="en-US" dirty="0"/>
              <a:t>Matrix for Vehicle Type preference by location.</a:t>
            </a:r>
          </a:p>
          <a:p>
            <a:pPr>
              <a:buFont typeface="Arial" panose="020B0604020202020204" pitchFamily="34" charset="0"/>
              <a:buChar char="•"/>
            </a:pPr>
            <a:endParaRPr lang="en-US" dirty="0"/>
          </a:p>
          <a:p>
            <a:pPr>
              <a:buNone/>
            </a:pPr>
            <a:r>
              <a:rPr lang="en-US" b="1" dirty="0"/>
              <a:t>Insights:</a:t>
            </a:r>
            <a:endParaRPr lang="en-US" dirty="0"/>
          </a:p>
          <a:p>
            <a:pPr>
              <a:buFont typeface="Arial" panose="020B0604020202020204" pitchFamily="34" charset="0"/>
              <a:buChar char="•"/>
            </a:pPr>
            <a:r>
              <a:rPr lang="en-US" b="1" dirty="0"/>
              <a:t>Top Pickup:</a:t>
            </a:r>
            <a:r>
              <a:rPr lang="en-US" dirty="0"/>
              <a:t> Penn Station / Madison Sq. West</a:t>
            </a:r>
          </a:p>
          <a:p>
            <a:pPr>
              <a:buFont typeface="Arial" panose="020B0604020202020204" pitchFamily="34" charset="0"/>
              <a:buChar char="•"/>
            </a:pPr>
            <a:r>
              <a:rPr lang="en-US" b="1" dirty="0"/>
              <a:t>Top Drop-off:</a:t>
            </a:r>
            <a:r>
              <a:rPr lang="en-US" dirty="0"/>
              <a:t> Upper East Side North</a:t>
            </a:r>
          </a:p>
          <a:p>
            <a:pPr>
              <a:buFont typeface="Arial" panose="020B0604020202020204" pitchFamily="34" charset="0"/>
              <a:buChar char="•"/>
            </a:pPr>
            <a:r>
              <a:rPr lang="en-US" b="1" dirty="0"/>
              <a:t>Farthest Trip:</a:t>
            </a:r>
            <a:r>
              <a:rPr lang="en-US" dirty="0"/>
              <a:t> Lower East Side → Crown Heights North (144.1 miles)</a:t>
            </a:r>
          </a:p>
          <a:p>
            <a:pPr>
              <a:buFont typeface="Arial" panose="020B0604020202020204" pitchFamily="34" charset="0"/>
              <a:buChar char="•"/>
            </a:pPr>
            <a:r>
              <a:rPr lang="en-US" b="1" dirty="0"/>
              <a:t>Preferred Vehicle:</a:t>
            </a:r>
            <a:r>
              <a:rPr lang="en-US" dirty="0"/>
              <a:t> SUV at airports; Hatchbacks in city centers.</a:t>
            </a:r>
          </a:p>
          <a:p>
            <a:pPr>
              <a:buFont typeface="Arial" panose="020B0604020202020204" pitchFamily="34" charset="0"/>
              <a:buChar char="•"/>
            </a:pPr>
            <a:r>
              <a:rPr lang="en-US" dirty="0"/>
              <a:t>Location-based marketing and targeted promotions recommended.</a:t>
            </a:r>
          </a:p>
        </p:txBody>
      </p:sp>
      <p:pic>
        <p:nvPicPr>
          <p:cNvPr id="5" name="Picture 4">
            <a:extLst>
              <a:ext uri="{FF2B5EF4-FFF2-40B4-BE49-F238E27FC236}">
                <a16:creationId xmlns:a16="http://schemas.microsoft.com/office/drawing/2014/main" id="{15FCD1DD-5056-17F9-15BB-37D7BC2AD608}"/>
              </a:ext>
            </a:extLst>
          </p:cNvPr>
          <p:cNvPicPr>
            <a:picLocks noChangeAspect="1"/>
          </p:cNvPicPr>
          <p:nvPr/>
        </p:nvPicPr>
        <p:blipFill>
          <a:blip r:embed="rId2"/>
          <a:stretch>
            <a:fillRect/>
          </a:stretch>
        </p:blipFill>
        <p:spPr>
          <a:xfrm>
            <a:off x="10610023" y="65630"/>
            <a:ext cx="1487553" cy="1444877"/>
          </a:xfrm>
          <a:prstGeom prst="rect">
            <a:avLst/>
          </a:prstGeom>
        </p:spPr>
      </p:pic>
    </p:spTree>
    <p:extLst>
      <p:ext uri="{BB962C8B-B14F-4D97-AF65-F5344CB8AC3E}">
        <p14:creationId xmlns:p14="http://schemas.microsoft.com/office/powerpoint/2010/main" val="209047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E797F39F-52EB-5742-FE5D-41CF883DC9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901" y="0"/>
            <a:ext cx="12006197" cy="6858000"/>
          </a:xfrm>
          <a:prstGeom prst="rect">
            <a:avLst/>
          </a:prstGeom>
        </p:spPr>
      </p:pic>
    </p:spTree>
    <p:extLst>
      <p:ext uri="{BB962C8B-B14F-4D97-AF65-F5344CB8AC3E}">
        <p14:creationId xmlns:p14="http://schemas.microsoft.com/office/powerpoint/2010/main" val="31734778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A803C0-4D06-AE75-A1EC-ECA02CD0B2E7}"/>
              </a:ext>
            </a:extLst>
          </p:cNvPr>
          <p:cNvSpPr>
            <a:spLocks noGrp="1"/>
          </p:cNvSpPr>
          <p:nvPr>
            <p:ph type="title"/>
          </p:nvPr>
        </p:nvSpPr>
        <p:spPr/>
        <p:txBody>
          <a:bodyPr/>
          <a:lstStyle/>
          <a:p>
            <a:r>
              <a:rPr lang="en-IN" dirty="0"/>
              <a:t>Business Impact</a:t>
            </a:r>
          </a:p>
        </p:txBody>
      </p:sp>
      <p:sp>
        <p:nvSpPr>
          <p:cNvPr id="3" name="Rectangle 1">
            <a:extLst>
              <a:ext uri="{FF2B5EF4-FFF2-40B4-BE49-F238E27FC236}">
                <a16:creationId xmlns:a16="http://schemas.microsoft.com/office/drawing/2014/main" id="{1E5C21CC-5210-47A6-6C5B-75830B4ECFFE}"/>
              </a:ext>
            </a:extLst>
          </p:cNvPr>
          <p:cNvSpPr>
            <a:spLocks noChangeArrowheads="1"/>
          </p:cNvSpPr>
          <p:nvPr/>
        </p:nvSpPr>
        <p:spPr bwMode="auto">
          <a:xfrm>
            <a:off x="625642" y="3320716"/>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Improved Demand Forecasting:</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Real-time analysis predicts high-demand zones and times.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Optimized Driver Allocation: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Helps reduce idle time and improve trip matching.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Enhanced Pricing Models: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Surge pricing implemented during demand spikes.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Revenue Growth:</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Increased efficiency and customer retention lead to better margins.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Customer Satisfaction: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Lower wait times and faster rides through predictive driver placement.</a:t>
            </a:r>
          </a:p>
        </p:txBody>
      </p:sp>
      <p:pic>
        <p:nvPicPr>
          <p:cNvPr id="4" name="Picture 3">
            <a:extLst>
              <a:ext uri="{FF2B5EF4-FFF2-40B4-BE49-F238E27FC236}">
                <a16:creationId xmlns:a16="http://schemas.microsoft.com/office/drawing/2014/main" id="{F2ACB40A-F031-0168-B4D9-FF6088041F4E}"/>
              </a:ext>
            </a:extLst>
          </p:cNvPr>
          <p:cNvPicPr>
            <a:picLocks noChangeAspect="1"/>
          </p:cNvPicPr>
          <p:nvPr/>
        </p:nvPicPr>
        <p:blipFill>
          <a:blip r:embed="rId2"/>
          <a:stretch>
            <a:fillRect/>
          </a:stretch>
        </p:blipFill>
        <p:spPr>
          <a:xfrm>
            <a:off x="10610023" y="0"/>
            <a:ext cx="1487553" cy="1444877"/>
          </a:xfrm>
          <a:prstGeom prst="rect">
            <a:avLst/>
          </a:prstGeom>
        </p:spPr>
      </p:pic>
    </p:spTree>
    <p:extLst>
      <p:ext uri="{BB962C8B-B14F-4D97-AF65-F5344CB8AC3E}">
        <p14:creationId xmlns:p14="http://schemas.microsoft.com/office/powerpoint/2010/main" val="22217194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ABDF2-DCD1-8CFD-7FCA-61E3E39C3613}"/>
              </a:ext>
            </a:extLst>
          </p:cNvPr>
          <p:cNvSpPr>
            <a:spLocks noGrp="1"/>
          </p:cNvSpPr>
          <p:nvPr>
            <p:ph type="title"/>
          </p:nvPr>
        </p:nvSpPr>
        <p:spPr/>
        <p:txBody>
          <a:bodyPr/>
          <a:lstStyle/>
          <a:p>
            <a:r>
              <a:rPr lang="en-IN" dirty="0"/>
              <a:t>Decision Support &amp; Recommendations</a:t>
            </a:r>
          </a:p>
        </p:txBody>
      </p:sp>
      <p:sp>
        <p:nvSpPr>
          <p:cNvPr id="4" name="TextBox 3">
            <a:extLst>
              <a:ext uri="{FF2B5EF4-FFF2-40B4-BE49-F238E27FC236}">
                <a16:creationId xmlns:a16="http://schemas.microsoft.com/office/drawing/2014/main" id="{E82B933F-FAD9-45FD-4A7A-EEF28C70DC88}"/>
              </a:ext>
            </a:extLst>
          </p:cNvPr>
          <p:cNvSpPr txBox="1"/>
          <p:nvPr/>
        </p:nvSpPr>
        <p:spPr>
          <a:xfrm>
            <a:off x="1341521" y="2274838"/>
            <a:ext cx="7803982" cy="3139321"/>
          </a:xfrm>
          <a:prstGeom prst="rect">
            <a:avLst/>
          </a:prstGeom>
          <a:noFill/>
        </p:spPr>
        <p:txBody>
          <a:bodyPr wrap="square">
            <a:spAutoFit/>
          </a:bodyPr>
          <a:lstStyle/>
          <a:p>
            <a:r>
              <a:rPr lang="en-US" b="1" dirty="0"/>
              <a:t>Decision Support:</a:t>
            </a:r>
            <a:endParaRPr lang="en-US" dirty="0"/>
          </a:p>
          <a:p>
            <a:r>
              <a:rPr lang="en-US" dirty="0"/>
              <a:t>Power BI dashboards empower Uber managers with </a:t>
            </a:r>
            <a:r>
              <a:rPr lang="en-US" b="1" dirty="0"/>
              <a:t>data-driven insights</a:t>
            </a:r>
            <a:r>
              <a:rPr lang="en-US" dirty="0"/>
              <a:t>.</a:t>
            </a:r>
          </a:p>
          <a:p>
            <a:r>
              <a:rPr lang="en-US" dirty="0"/>
              <a:t>Support in </a:t>
            </a:r>
            <a:r>
              <a:rPr lang="en-US" b="1" dirty="0"/>
              <a:t>real-time decision-making</a:t>
            </a:r>
            <a:r>
              <a:rPr lang="en-US" dirty="0"/>
              <a:t> for fleet operations, pricing, and promotions.</a:t>
            </a:r>
          </a:p>
          <a:p>
            <a:endParaRPr lang="en-US" dirty="0"/>
          </a:p>
          <a:p>
            <a:r>
              <a:rPr lang="en-US" b="1" dirty="0"/>
              <a:t>Recommendations:</a:t>
            </a:r>
            <a:endParaRPr lang="en-US" dirty="0"/>
          </a:p>
          <a:p>
            <a:r>
              <a:rPr lang="en-US" dirty="0"/>
              <a:t>Use </a:t>
            </a:r>
            <a:r>
              <a:rPr lang="en-US" b="1" dirty="0"/>
              <a:t>predictive analytics</a:t>
            </a:r>
            <a:r>
              <a:rPr lang="en-US" dirty="0"/>
              <a:t> for driver scheduling.</a:t>
            </a:r>
          </a:p>
          <a:p>
            <a:r>
              <a:rPr lang="en-US" dirty="0"/>
              <a:t>Increase drivers in top 5 demand zones (airports, business hubs).</a:t>
            </a:r>
          </a:p>
          <a:p>
            <a:r>
              <a:rPr lang="en-US" dirty="0"/>
              <a:t>Promote digital payments (Uber Wallet, Card).</a:t>
            </a:r>
          </a:p>
          <a:p>
            <a:r>
              <a:rPr lang="en-US" dirty="0"/>
              <a:t>Offer targeted discounts during low-demand hours.</a:t>
            </a:r>
          </a:p>
          <a:p>
            <a:r>
              <a:rPr lang="en-US" dirty="0"/>
              <a:t>Expand SUV availability near high-income zones.</a:t>
            </a:r>
          </a:p>
        </p:txBody>
      </p:sp>
      <p:pic>
        <p:nvPicPr>
          <p:cNvPr id="5" name="Picture 4">
            <a:extLst>
              <a:ext uri="{FF2B5EF4-FFF2-40B4-BE49-F238E27FC236}">
                <a16:creationId xmlns:a16="http://schemas.microsoft.com/office/drawing/2014/main" id="{0AB3C0F1-933F-4394-CC5B-AE41A14D85E1}"/>
              </a:ext>
            </a:extLst>
          </p:cNvPr>
          <p:cNvPicPr>
            <a:picLocks noChangeAspect="1"/>
          </p:cNvPicPr>
          <p:nvPr/>
        </p:nvPicPr>
        <p:blipFill>
          <a:blip r:embed="rId2"/>
          <a:stretch>
            <a:fillRect/>
          </a:stretch>
        </p:blipFill>
        <p:spPr>
          <a:xfrm>
            <a:off x="10704447" y="0"/>
            <a:ext cx="1487553" cy="1444877"/>
          </a:xfrm>
          <a:prstGeom prst="rect">
            <a:avLst/>
          </a:prstGeom>
        </p:spPr>
      </p:pic>
    </p:spTree>
    <p:extLst>
      <p:ext uri="{BB962C8B-B14F-4D97-AF65-F5344CB8AC3E}">
        <p14:creationId xmlns:p14="http://schemas.microsoft.com/office/powerpoint/2010/main" val="10667469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2DD2E7-DF4C-F3F9-DF27-6240585DA913}"/>
              </a:ext>
            </a:extLst>
          </p:cNvPr>
          <p:cNvSpPr>
            <a:spLocks noGrp="1"/>
          </p:cNvSpPr>
          <p:nvPr>
            <p:ph type="title"/>
          </p:nvPr>
        </p:nvSpPr>
        <p:spPr/>
        <p:txBody>
          <a:bodyPr/>
          <a:lstStyle/>
          <a:p>
            <a:r>
              <a:rPr lang="en-IN" dirty="0"/>
              <a:t>Conclusion</a:t>
            </a:r>
            <a:br>
              <a:rPr lang="en-IN" b="1" dirty="0"/>
            </a:br>
            <a:endParaRPr lang="en-IN" dirty="0"/>
          </a:p>
        </p:txBody>
      </p:sp>
      <p:sp>
        <p:nvSpPr>
          <p:cNvPr id="5" name="TextBox 4">
            <a:extLst>
              <a:ext uri="{FF2B5EF4-FFF2-40B4-BE49-F238E27FC236}">
                <a16:creationId xmlns:a16="http://schemas.microsoft.com/office/drawing/2014/main" id="{7FAA58BA-CC23-7402-2B13-9C9903AA48EA}"/>
              </a:ext>
            </a:extLst>
          </p:cNvPr>
          <p:cNvSpPr txBox="1"/>
          <p:nvPr/>
        </p:nvSpPr>
        <p:spPr>
          <a:xfrm>
            <a:off x="884320" y="1305342"/>
            <a:ext cx="8993605" cy="2862322"/>
          </a:xfrm>
          <a:prstGeom prst="rect">
            <a:avLst/>
          </a:prstGeom>
          <a:noFill/>
        </p:spPr>
        <p:txBody>
          <a:bodyPr wrap="square">
            <a:spAutoFit/>
          </a:bodyPr>
          <a:lstStyle/>
          <a:p>
            <a:r>
              <a:rPr lang="en-US" dirty="0"/>
              <a:t>The Uber Trip Data Analysis provided valuable insights into ride patterns, customer preferences, and operational efficiency. By examining booking trends, revenue, trip durations, and travel distances, clear patterns emerged that highlight when and where demand is highest. The study demonstrated how data-driven analysis can help improve driver allocation, reduce idle time, and enhance pricing strategies during peak hours. Understanding location-based and time-based demand allows for better planning and resource management. The analysis also revealed customer payment preferences and vehicle-type trends that can guide service improvements. Overall, this case study proves that systematic data interpretation leads to informed business decisions, optimized operations, and greater customer satisfaction.</a:t>
            </a:r>
            <a:endParaRPr lang="en-IN" dirty="0"/>
          </a:p>
        </p:txBody>
      </p:sp>
      <p:pic>
        <p:nvPicPr>
          <p:cNvPr id="6" name="Picture 5">
            <a:extLst>
              <a:ext uri="{FF2B5EF4-FFF2-40B4-BE49-F238E27FC236}">
                <a16:creationId xmlns:a16="http://schemas.microsoft.com/office/drawing/2014/main" id="{1FAFB7C3-06A5-E170-1CEB-E53EB18D2F01}"/>
              </a:ext>
            </a:extLst>
          </p:cNvPr>
          <p:cNvPicPr>
            <a:picLocks noChangeAspect="1"/>
          </p:cNvPicPr>
          <p:nvPr/>
        </p:nvPicPr>
        <p:blipFill>
          <a:blip r:embed="rId2"/>
          <a:stretch>
            <a:fillRect/>
          </a:stretch>
        </p:blipFill>
        <p:spPr>
          <a:xfrm>
            <a:off x="10704447" y="0"/>
            <a:ext cx="1487553" cy="1444877"/>
          </a:xfrm>
          <a:prstGeom prst="rect">
            <a:avLst/>
          </a:prstGeom>
        </p:spPr>
      </p:pic>
    </p:spTree>
    <p:extLst>
      <p:ext uri="{BB962C8B-B14F-4D97-AF65-F5344CB8AC3E}">
        <p14:creationId xmlns:p14="http://schemas.microsoft.com/office/powerpoint/2010/main" val="29449856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31970-88FB-68B8-4048-99AB72AB0FDB}"/>
              </a:ext>
            </a:extLst>
          </p:cNvPr>
          <p:cNvSpPr>
            <a:spLocks noGrp="1"/>
          </p:cNvSpPr>
          <p:nvPr>
            <p:ph type="title"/>
          </p:nvPr>
        </p:nvSpPr>
        <p:spPr/>
        <p:txBody>
          <a:bodyPr/>
          <a:lstStyle/>
          <a:p>
            <a:r>
              <a:rPr lang="en-IN" dirty="0"/>
              <a:t>Future Scope</a:t>
            </a:r>
          </a:p>
        </p:txBody>
      </p:sp>
      <p:sp>
        <p:nvSpPr>
          <p:cNvPr id="4" name="Rectangle 2">
            <a:extLst>
              <a:ext uri="{FF2B5EF4-FFF2-40B4-BE49-F238E27FC236}">
                <a16:creationId xmlns:a16="http://schemas.microsoft.com/office/drawing/2014/main" id="{9DD00014-085C-141D-2972-06EBDD6ACF4C}"/>
              </a:ext>
            </a:extLst>
          </p:cNvPr>
          <p:cNvSpPr>
            <a:spLocks noChangeArrowheads="1"/>
          </p:cNvSpPr>
          <p:nvPr/>
        </p:nvSpPr>
        <p:spPr bwMode="auto">
          <a:xfrm>
            <a:off x="788070" y="1648541"/>
            <a:ext cx="9793704"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AI-Based Demand Prediction:</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Use machine learning models to forecast ride demand across different times and locations for better planning and driver allocation.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Real-Time Data Monitoring:</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Implement live dashboards to track ongoing trips, detect anomalies, and adjust resources dynamically.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Multi-City Expansion Analysis: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Extend the study to multiple cities to compare performance, identify regional trends, and support expansion strategies.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Integration of External Factors: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Incorporate data like weather, events, and holidays to understand their impact on bookings and optimize pricing strategies.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Driver and Customer Behavior Insights: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Analyze driver efficiency, customer preferences, and feedback to improve service quality and satisfaction.</a:t>
            </a:r>
          </a:p>
        </p:txBody>
      </p:sp>
      <p:pic>
        <p:nvPicPr>
          <p:cNvPr id="5" name="Picture 4">
            <a:extLst>
              <a:ext uri="{FF2B5EF4-FFF2-40B4-BE49-F238E27FC236}">
                <a16:creationId xmlns:a16="http://schemas.microsoft.com/office/drawing/2014/main" id="{6544C3FD-D23F-1E02-5049-5BA75055367B}"/>
              </a:ext>
            </a:extLst>
          </p:cNvPr>
          <p:cNvPicPr>
            <a:picLocks noChangeAspect="1"/>
          </p:cNvPicPr>
          <p:nvPr/>
        </p:nvPicPr>
        <p:blipFill>
          <a:blip r:embed="rId2"/>
          <a:stretch>
            <a:fillRect/>
          </a:stretch>
        </p:blipFill>
        <p:spPr>
          <a:xfrm>
            <a:off x="10704447" y="0"/>
            <a:ext cx="1487553" cy="1444877"/>
          </a:xfrm>
          <a:prstGeom prst="rect">
            <a:avLst/>
          </a:prstGeom>
        </p:spPr>
      </p:pic>
    </p:spTree>
    <p:extLst>
      <p:ext uri="{BB962C8B-B14F-4D97-AF65-F5344CB8AC3E}">
        <p14:creationId xmlns:p14="http://schemas.microsoft.com/office/powerpoint/2010/main" val="33043258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979</Words>
  <Application>Microsoft Office PowerPoint</Application>
  <PresentationFormat>Widescreen</PresentationFormat>
  <Paragraphs>117</Paragraphs>
  <Slides>15</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Uber Trip Data Analysis </vt:lpstr>
      <vt:lpstr>Introduction</vt:lpstr>
      <vt:lpstr>Problem Statement</vt:lpstr>
      <vt:lpstr>Objectives</vt:lpstr>
      <vt:lpstr>Methodology / Implementation Overview</vt:lpstr>
      <vt:lpstr>Dashboard 1: Overview Analysis</vt:lpstr>
      <vt:lpstr>PowerPoint Presentation</vt:lpstr>
      <vt:lpstr>Dashboard 2: Time Analysis</vt:lpstr>
      <vt:lpstr>PowerPoint Presentation</vt:lpstr>
      <vt:lpstr>Dashboard 3: Location Analysis</vt:lpstr>
      <vt:lpstr>PowerPoint Presentation</vt:lpstr>
      <vt:lpstr>Business Impact</vt:lpstr>
      <vt:lpstr>Decision Support &amp; Recommendations</vt:lpstr>
      <vt:lpstr>Conclusion </vt:lpstr>
      <vt:lpstr>Future Scope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Abhiram Chowdary</dc:creator>
  <cp:lastModifiedBy>Abhiram Chowdary</cp:lastModifiedBy>
  <cp:revision>2</cp:revision>
  <dcterms:created xsi:type="dcterms:W3CDTF">2025-10-27T15:23:33Z</dcterms:created>
  <dcterms:modified xsi:type="dcterms:W3CDTF">2025-10-27T15:40:27Z</dcterms:modified>
</cp:coreProperties>
</file>